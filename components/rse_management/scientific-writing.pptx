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</p:sldMasterIdLst>
  <p:notesMasterIdLst>
    <p:notesMasterId r:id="rId24"/>
  </p:notesMasterIdLst>
  <p:handoutMasterIdLst>
    <p:handoutMasterId r:id="rId25"/>
  </p:handoutMasterIdLst>
  <p:sldIdLst>
    <p:sldId id="258" r:id="rId2"/>
    <p:sldId id="261" r:id="rId3"/>
    <p:sldId id="265" r:id="rId4"/>
    <p:sldId id="270" r:id="rId5"/>
    <p:sldId id="300" r:id="rId6"/>
    <p:sldId id="275" r:id="rId7"/>
    <p:sldId id="276" r:id="rId8"/>
    <p:sldId id="274" r:id="rId9"/>
    <p:sldId id="277" r:id="rId10"/>
    <p:sldId id="278" r:id="rId11"/>
    <p:sldId id="280" r:id="rId12"/>
    <p:sldId id="295" r:id="rId13"/>
    <p:sldId id="296" r:id="rId14"/>
    <p:sldId id="297" r:id="rId15"/>
    <p:sldId id="287" r:id="rId16"/>
    <p:sldId id="289" r:id="rId17"/>
    <p:sldId id="290" r:id="rId18"/>
    <p:sldId id="291" r:id="rId19"/>
    <p:sldId id="292" r:id="rId20"/>
    <p:sldId id="288" r:id="rId21"/>
    <p:sldId id="299" r:id="rId22"/>
    <p:sldId id="294" r:id="rId23"/>
  </p:sldIdLst>
  <p:sldSz cx="12192000" cy="6858000"/>
  <p:notesSz cx="7102475" cy="10233025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hmalzing" initials="DS" lastIdx="1" clrIdx="0">
    <p:extLst>
      <p:ext uri="{19B8F6BF-5375-455C-9EA6-DF929625EA0E}">
        <p15:presenceInfo xmlns:p15="http://schemas.microsoft.com/office/powerpoint/2012/main" userId="David Schmalz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8FD"/>
    <a:srgbClr val="F4F9FD"/>
    <a:srgbClr val="FFF6E5"/>
    <a:srgbClr val="00549F"/>
    <a:srgbClr val="FFFFFF"/>
    <a:srgbClr val="071ECC"/>
    <a:srgbClr val="1E07CC"/>
    <a:srgbClr val="FF0000"/>
    <a:srgbClr val="FF00FF"/>
    <a:srgbClr val="CC0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81532" autoAdjust="0"/>
  </p:normalViewPr>
  <p:slideViewPr>
    <p:cSldViewPr snapToGrid="0">
      <p:cViewPr>
        <p:scale>
          <a:sx n="103" d="100"/>
          <a:sy n="103" d="100"/>
        </p:scale>
        <p:origin x="3176" y="1824"/>
      </p:cViewPr>
      <p:guideLst/>
    </p:cSldViewPr>
  </p:slideViewPr>
  <p:outlineViewPr>
    <p:cViewPr>
      <p:scale>
        <a:sx n="33" d="100"/>
        <a:sy n="33" d="100"/>
      </p:scale>
      <p:origin x="0" y="-12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316"/>
    </p:cViewPr>
  </p:sorterViewPr>
  <p:notesViewPr>
    <p:cSldViewPr snapToGrid="0">
      <p:cViewPr varScale="1">
        <p:scale>
          <a:sx n="149" d="100"/>
          <a:sy n="149" d="100"/>
        </p:scale>
        <p:origin x="464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937" y="1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8BCBB3B-932A-4D6C-900D-9F4B28686221}" type="datetimeFigureOut">
              <a:rPr lang="de-DE" altLang="de-DE"/>
              <a:pPr>
                <a:defRPr/>
              </a:pPr>
              <a:t>28.04.26</a:t>
            </a:fld>
            <a:endParaRPr lang="de-DE" alt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0342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937" y="9720342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5FA329-B071-4BC1-BBB5-3B07BBB55D93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937" y="1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02CD211-E599-4F87-85BA-4D602CEE05A3}" type="datetimeFigureOut">
              <a:rPr lang="de-DE" altLang="de-DE"/>
              <a:pPr>
                <a:defRPr/>
              </a:pPr>
              <a:t>28.04.26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925249"/>
            <a:ext cx="5682615" cy="4028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0342"/>
            <a:ext cx="3077951" cy="5126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937" y="9720342"/>
            <a:ext cx="3077951" cy="51268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1BC8D279-B8BC-4FA6-86F2-E41329D88EBB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7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Herzlich Willkommen zu meinem </a:t>
            </a:r>
            <a:r>
              <a:rPr lang="de-DE" dirty="0" err="1"/>
              <a:t>FoWo</a:t>
            </a:r>
            <a:r>
              <a:rPr lang="de-DE" dirty="0"/>
              <a:t>-Vortrag zu dem Stand meiner Promotion im Bereich RSE</a:t>
            </a:r>
          </a:p>
        </p:txBody>
      </p:sp>
    </p:spTree>
    <p:extLst>
      <p:ext uri="{BB962C8B-B14F-4D97-AF65-F5344CB8AC3E}">
        <p14:creationId xmlns:p14="http://schemas.microsoft.com/office/powerpoint/2010/main" val="3267329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336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705C926-C661-4870-90F5-B8FE6824FA3E}"/>
              </a:ext>
            </a:extLst>
          </p:cNvPr>
          <p:cNvCxnSpPr/>
          <p:nvPr userDrawn="1"/>
        </p:nvCxnSpPr>
        <p:spPr>
          <a:xfrm>
            <a:off x="107622" y="2351366"/>
            <a:ext cx="11483975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1340FDD-0028-43F6-9B43-780A9256EA84}"/>
              </a:ext>
            </a:extLst>
          </p:cNvPr>
          <p:cNvCxnSpPr/>
          <p:nvPr userDrawn="1"/>
        </p:nvCxnSpPr>
        <p:spPr>
          <a:xfrm>
            <a:off x="157240" y="2402171"/>
            <a:ext cx="11483975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98FA662-EA6F-40FE-BBAD-CBDF6AB6DBCB}"/>
              </a:ext>
            </a:extLst>
          </p:cNvPr>
          <p:cNvCxnSpPr/>
          <p:nvPr userDrawn="1"/>
        </p:nvCxnSpPr>
        <p:spPr>
          <a:xfrm flipH="1">
            <a:off x="643376" y="2351364"/>
            <a:ext cx="1" cy="4331785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A789B2B-F6CE-4245-989C-4A30EA0B1352}"/>
              </a:ext>
            </a:extLst>
          </p:cNvPr>
          <p:cNvCxnSpPr/>
          <p:nvPr userDrawn="1"/>
        </p:nvCxnSpPr>
        <p:spPr>
          <a:xfrm flipH="1">
            <a:off x="694181" y="2407067"/>
            <a:ext cx="1" cy="4333116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34966" y="2637995"/>
            <a:ext cx="11520000" cy="98488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3200" b="1" i="0" cap="none" spc="150" baseline="0">
                <a:solidFill>
                  <a:schemeClr val="tx2"/>
                </a:solidFill>
                <a:latin typeface="Arial Black" panose="020B0604020202020204" pitchFamily="34" charset="0"/>
                <a:ea typeface="SF Pro Heavy" pitchFamily="2" charset="0"/>
                <a:cs typeface="Arial Black" panose="020B0604020202020204" pitchFamily="34" charset="0"/>
              </a:defRPr>
            </a:lvl1pPr>
          </a:lstStyle>
          <a:p>
            <a:r>
              <a:rPr lang="de-DE" noProof="0" dirty="0"/>
              <a:t>Title</a:t>
            </a:r>
            <a:br>
              <a:rPr lang="de-DE" noProof="0" dirty="0"/>
            </a:br>
            <a:r>
              <a:rPr lang="de-DE" noProof="0" dirty="0"/>
              <a:t>Title</a:t>
            </a:r>
            <a:endParaRPr lang="en-US" noProof="0" dirty="0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E5F32772-7E67-4104-809E-A67B38C64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99"/>
            <a:ext cx="12199620" cy="2307643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D23406-E2D7-DCFE-8FE2-A771379FEA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3642603"/>
            <a:ext cx="11520000" cy="422405"/>
          </a:xfrm>
          <a:prstGeom prst="rect">
            <a:avLst/>
          </a:prstGeom>
        </p:spPr>
        <p:txBody>
          <a:bodyPr lIns="0" tIns="72000" rIns="0" bIns="72000">
            <a:spAutoFit/>
          </a:bodyPr>
          <a:lstStyle>
            <a:lvl1pPr>
              <a:buNone/>
              <a:defRPr b="1">
                <a:latin typeface="Arial" panose="020B0604020202020204" pitchFamily="34" charset="0"/>
                <a:ea typeface="SF Pro Heavy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err="1"/>
              <a:t>Secondary</a:t>
            </a:r>
            <a:r>
              <a:rPr lang="de-DE" dirty="0"/>
              <a:t> Title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64AB7C-8DEE-B636-3B09-65991E0144B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36003" y="4065008"/>
            <a:ext cx="11519995" cy="976403"/>
          </a:xfrm>
          <a:prstGeom prst="rect">
            <a:avLst/>
          </a:prstGeom>
        </p:spPr>
        <p:txBody>
          <a:bodyPr lIns="0" tIns="144000" rIns="0" bIns="0">
            <a:spAutoFit/>
          </a:bodyPr>
          <a:lstStyle>
            <a:lvl1pPr>
              <a:buNone/>
              <a:defRPr b="0" i="0">
                <a:latin typeface="Arial" panose="020B0604020202020204" pitchFamily="34" charset="0"/>
                <a:ea typeface="SF Pro Medium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Marc Schmidt</a:t>
            </a:r>
          </a:p>
          <a:p>
            <a:pPr lvl="0"/>
            <a:r>
              <a:rPr lang="de-DE" dirty="0"/>
              <a:t>Software Engineering</a:t>
            </a:r>
          </a:p>
          <a:p>
            <a:pPr lvl="0"/>
            <a:r>
              <a:rPr lang="de-DE" dirty="0"/>
              <a:t>RWTH Aachen</a:t>
            </a:r>
          </a:p>
        </p:txBody>
      </p:sp>
      <p:cxnSp>
        <p:nvCxnSpPr>
          <p:cNvPr id="3" name="Gerader Verbinder 14">
            <a:extLst>
              <a:ext uri="{FF2B5EF4-FFF2-40B4-BE49-F238E27FC236}">
                <a16:creationId xmlns:a16="http://schemas.microsoft.com/office/drawing/2014/main" id="{54542EAD-FAC8-7EE1-C721-BFC3B789D117}"/>
              </a:ext>
            </a:extLst>
          </p:cNvPr>
          <p:cNvCxnSpPr>
            <a:cxnSpLocks/>
          </p:cNvCxnSpPr>
          <p:nvPr userDrawn="1"/>
        </p:nvCxnSpPr>
        <p:spPr>
          <a:xfrm>
            <a:off x="155575" y="2440920"/>
            <a:ext cx="11790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15">
            <a:extLst>
              <a:ext uri="{FF2B5EF4-FFF2-40B4-BE49-F238E27FC236}">
                <a16:creationId xmlns:a16="http://schemas.microsoft.com/office/drawing/2014/main" id="{595398E5-D388-EB63-D315-B76EAFD4EB9C}"/>
              </a:ext>
            </a:extLst>
          </p:cNvPr>
          <p:cNvCxnSpPr>
            <a:cxnSpLocks/>
          </p:cNvCxnSpPr>
          <p:nvPr userDrawn="1"/>
        </p:nvCxnSpPr>
        <p:spPr>
          <a:xfrm>
            <a:off x="244800" y="2494419"/>
            <a:ext cx="1179162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88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800" y="1015200"/>
            <a:ext cx="11520000" cy="4713572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lnSpc>
                <a:spcPct val="125000"/>
              </a:lnSpc>
              <a:buFont typeface="Arial" panose="020B0604020202020204" pitchFamily="34" charset="0"/>
              <a:buChar char="•"/>
              <a:defRPr b="0" i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 marL="432000" indent="-216000">
              <a:lnSpc>
                <a:spcPct val="125000"/>
              </a:lnSpc>
              <a:buFont typeface="Symbol" panose="05050102010706020507" pitchFamily="18" charset="2"/>
              <a:buChar char="-"/>
              <a:defRPr b="0" i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b="0" i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indent="-216000">
              <a:lnSpc>
                <a:spcPct val="125000"/>
              </a:lnSpc>
              <a:buFont typeface="Symbol" panose="05050102010706020507" pitchFamily="18" charset="2"/>
              <a:buChar char="-"/>
              <a:defRPr b="0" i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  <a:lvl5pPr marL="6477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800" y="450000"/>
            <a:ext cx="9360000" cy="2769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2000" b="1" i="0">
                <a:solidFill>
                  <a:schemeClr val="tx2"/>
                </a:solidFill>
                <a:latin typeface="Arial" panose="020B0604020202020204" pitchFamily="34" charset="0"/>
                <a:ea typeface="SF Pro Heavy" pitchFamily="2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Title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2653E71-6591-CB52-0A17-F6C1CE5CA8D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694800" y="450000"/>
            <a:ext cx="2160000" cy="276999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Partner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BB73DE0-CCB3-DC69-4BFE-FD8B6AF1B9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100421" y="5759550"/>
            <a:ext cx="756617" cy="153888"/>
          </a:xfrm>
          <a:prstGeom prst="rect">
            <a:avLst/>
          </a:prstGeom>
        </p:spPr>
        <p:txBody>
          <a:bodyPr wrap="none" lIns="0" tIns="0" rIns="0" bIns="0" anchor="b" anchorCtr="1">
            <a:spAutoFit/>
          </a:bodyPr>
          <a:lstStyle>
            <a:lvl1pPr algn="r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arenBoth"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0794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77037" y="1015200"/>
            <a:ext cx="5580000" cy="47188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b="0" i="0" spc="0" baseline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800" y="1015200"/>
            <a:ext cx="5580000" cy="47188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>
              <a:lnSpc>
                <a:spcPct val="125000"/>
              </a:lnSpc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>
              <a:lnSpc>
                <a:spcPct val="125000"/>
              </a:lnSpc>
              <a:defRPr b="0" i="0">
                <a:effectLst/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0D145-5246-24D5-779E-6B938D2C3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00" y="450000"/>
            <a:ext cx="9360000" cy="2769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2000" b="1" i="0">
                <a:solidFill>
                  <a:schemeClr val="tx2"/>
                </a:solidFill>
                <a:latin typeface="Arial" panose="020B0604020202020204" pitchFamily="34" charset="0"/>
                <a:ea typeface="SF Pro Heavy" pitchFamily="2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Title</a:t>
            </a:r>
            <a:endParaRPr lang="en-US" dirty="0"/>
          </a:p>
        </p:txBody>
      </p:sp>
      <p:sp>
        <p:nvSpPr>
          <p:cNvPr id="7" name="Inhaltsplatzhalter 9">
            <a:extLst>
              <a:ext uri="{FF2B5EF4-FFF2-40B4-BE49-F238E27FC236}">
                <a16:creationId xmlns:a16="http://schemas.microsoft.com/office/drawing/2014/main" id="{B913D553-5EC3-E590-07BA-5543890C55F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94800" y="450000"/>
            <a:ext cx="2160000" cy="276999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Partner</a:t>
            </a:r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7513DBD6-C2C1-B0C5-F258-950B570F72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00421" y="5759550"/>
            <a:ext cx="756617" cy="153888"/>
          </a:xfrm>
          <a:prstGeom prst="rect">
            <a:avLst/>
          </a:prstGeom>
        </p:spPr>
        <p:txBody>
          <a:bodyPr wrap="none" lIns="0" tIns="0" rIns="0" bIns="0" anchor="b" anchorCtr="1">
            <a:spAutoFit/>
          </a:bodyPr>
          <a:lstStyle>
            <a:lvl1pPr algn="r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arenBoth"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727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572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77037" y="1015200"/>
            <a:ext cx="5580000" cy="315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25000"/>
              </a:lnSpc>
              <a:buNone/>
              <a:defRPr b="1" i="0">
                <a:solidFill>
                  <a:schemeClr val="tx2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/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Title 2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800" y="1015200"/>
            <a:ext cx="5580000" cy="315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buNone/>
              <a:defRPr b="1" i="0">
                <a:solidFill>
                  <a:schemeClr val="tx2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</a:lstStyle>
          <a:p>
            <a:pPr lvl="0"/>
            <a:r>
              <a:rPr lang="de-DE" dirty="0"/>
              <a:t>Title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0D145-5246-24D5-779E-6B938D2C3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00" y="450000"/>
            <a:ext cx="9360000" cy="2769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2000" b="1" i="0">
                <a:solidFill>
                  <a:schemeClr val="tx2"/>
                </a:solidFill>
                <a:latin typeface="Arial" panose="020B0604020202020204" pitchFamily="34" charset="0"/>
                <a:ea typeface="SF Pro Heavy" pitchFamily="2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Title</a:t>
            </a:r>
            <a:endParaRPr lang="en-US" dirty="0"/>
          </a:p>
        </p:txBody>
      </p:sp>
      <p:sp>
        <p:nvSpPr>
          <p:cNvPr id="7" name="Inhaltsplatzhalter 9">
            <a:extLst>
              <a:ext uri="{FF2B5EF4-FFF2-40B4-BE49-F238E27FC236}">
                <a16:creationId xmlns:a16="http://schemas.microsoft.com/office/drawing/2014/main" id="{B913D553-5EC3-E590-07BA-5543890C55F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94800" y="450000"/>
            <a:ext cx="2160000" cy="276999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Partner</a:t>
            </a:r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8C4EAE7E-395B-5F3A-18AF-5C9A0D9A83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77037" y="1472400"/>
            <a:ext cx="5580000" cy="42616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b="0" i="0" spc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8">
            <a:extLst>
              <a:ext uri="{FF2B5EF4-FFF2-40B4-BE49-F238E27FC236}">
                <a16:creationId xmlns:a16="http://schemas.microsoft.com/office/drawing/2014/main" id="{F93520B6-162F-B53F-96C6-272ECE5CBB3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4800" y="1472400"/>
            <a:ext cx="5580000" cy="42616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91A7BB65-130E-2859-4397-6E2EB5A034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00421" y="5759550"/>
            <a:ext cx="756617" cy="153888"/>
          </a:xfrm>
          <a:prstGeom prst="rect">
            <a:avLst/>
          </a:prstGeom>
        </p:spPr>
        <p:txBody>
          <a:bodyPr wrap="none" lIns="0" tIns="0" rIns="0" bIns="0" anchor="b" anchorCtr="1">
            <a:spAutoFit/>
          </a:bodyPr>
          <a:lstStyle>
            <a:lvl1pPr algn="r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arenBoth"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246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57038" y="1015200"/>
            <a:ext cx="3600000" cy="47188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b="0" i="0" spc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800" y="1015200"/>
            <a:ext cx="3600000" cy="47188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2DF62CBC-D4DA-3000-C4F2-C0658C94AC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96000" y="1015200"/>
            <a:ext cx="3600000" cy="47188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b="0" i="0" spc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8E4182-8A09-9072-8C7B-8FD7ABC445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00" y="450000"/>
            <a:ext cx="9360000" cy="2769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2000" b="1" i="0">
                <a:solidFill>
                  <a:schemeClr val="tx2"/>
                </a:solidFill>
                <a:latin typeface="Arial" panose="020B0604020202020204" pitchFamily="34" charset="0"/>
                <a:ea typeface="SF Pro Heavy" pitchFamily="2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Title</a:t>
            </a:r>
            <a:endParaRPr lang="en-US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B4BA87CE-DE71-5282-1AA2-A46D1FCF54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694800" y="450000"/>
            <a:ext cx="2160000" cy="276999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Partner</a:t>
            </a:r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CF1AA5FC-5798-FEDD-5CB9-5DB8370BE2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100421" y="5759550"/>
            <a:ext cx="756617" cy="153888"/>
          </a:xfrm>
          <a:prstGeom prst="rect">
            <a:avLst/>
          </a:prstGeom>
        </p:spPr>
        <p:txBody>
          <a:bodyPr wrap="none" lIns="0" tIns="0" rIns="0" bIns="0" anchor="b" anchorCtr="1">
            <a:spAutoFit/>
          </a:bodyPr>
          <a:lstStyle>
            <a:lvl1pPr algn="r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arenBoth"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548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 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57038" y="1015200"/>
            <a:ext cx="3600000" cy="315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25000"/>
              </a:lnSpc>
              <a:buNone/>
              <a:defRPr b="1" i="0">
                <a:solidFill>
                  <a:schemeClr val="tx2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/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Title 3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800" y="1015200"/>
            <a:ext cx="3600000" cy="315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25000"/>
              </a:lnSpc>
              <a:buNone/>
              <a:defRPr b="1" i="0">
                <a:solidFill>
                  <a:schemeClr val="tx2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</a:lstStyle>
          <a:p>
            <a:pPr lvl="0"/>
            <a:r>
              <a:rPr lang="de-DE" dirty="0"/>
              <a:t>Title 1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2DF62CBC-D4DA-3000-C4F2-C0658C94AC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96000" y="1015200"/>
            <a:ext cx="3600000" cy="315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25000"/>
              </a:lnSpc>
              <a:buNone/>
              <a:defRPr b="1" i="0">
                <a:solidFill>
                  <a:schemeClr val="tx2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/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Title 2</a:t>
            </a:r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A6B0D5AB-8C95-5DAE-1C46-CB4165CF5E3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257038" y="1472401"/>
            <a:ext cx="3600000" cy="426164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b="0" i="0" spc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Inhaltsplatzhalter 8">
            <a:extLst>
              <a:ext uri="{FF2B5EF4-FFF2-40B4-BE49-F238E27FC236}">
                <a16:creationId xmlns:a16="http://schemas.microsoft.com/office/drawing/2014/main" id="{49F0D26C-CF5B-1D2B-39B9-8426D3C67E8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800" y="1472401"/>
            <a:ext cx="3600000" cy="426164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C6484231-001F-680C-15EE-C0EC2624DB9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96000" y="1472401"/>
            <a:ext cx="3600000" cy="426164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>
              <a:lnSpc>
                <a:spcPct val="125000"/>
              </a:lnSpc>
              <a:buFont typeface="Wingdings" panose="05000000000000000000" pitchFamily="2" charset="2"/>
              <a:buChar char="§"/>
              <a:defRPr b="0" i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b="0" i="0" spc="0" baseline="0"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81DFE7-BA5B-94D5-9B45-F3663DDDE8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00" y="450000"/>
            <a:ext cx="9360000" cy="2769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2000" b="1" i="0">
                <a:solidFill>
                  <a:schemeClr val="tx2"/>
                </a:solidFill>
                <a:latin typeface="Arial" panose="020B0604020202020204" pitchFamily="34" charset="0"/>
                <a:ea typeface="SF Pro Heavy" pitchFamily="2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Title</a:t>
            </a:r>
            <a:endParaRPr lang="en-US" dirty="0"/>
          </a:p>
        </p:txBody>
      </p:sp>
      <p:sp>
        <p:nvSpPr>
          <p:cNvPr id="14" name="Inhaltsplatzhalter 9">
            <a:extLst>
              <a:ext uri="{FF2B5EF4-FFF2-40B4-BE49-F238E27FC236}">
                <a16:creationId xmlns:a16="http://schemas.microsoft.com/office/drawing/2014/main" id="{122B66FD-C495-0CC2-BFD8-F2BBBBE3D89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94800" y="450000"/>
            <a:ext cx="2160000" cy="276999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Partner</a:t>
            </a:r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51001754-E30A-02F4-CECF-9B96D07F46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100421" y="5759550"/>
            <a:ext cx="756617" cy="153888"/>
          </a:xfrm>
          <a:prstGeom prst="rect">
            <a:avLst/>
          </a:prstGeom>
        </p:spPr>
        <p:txBody>
          <a:bodyPr wrap="none" lIns="0" tIns="0" rIns="0" bIns="0" anchor="b" anchorCtr="1">
            <a:spAutoFit/>
          </a:bodyPr>
          <a:lstStyle>
            <a:lvl1pPr algn="r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arenBoth"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188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39390DE-7CDF-413A-BA63-9DBE991A03FE}"/>
              </a:ext>
            </a:extLst>
          </p:cNvPr>
          <p:cNvCxnSpPr>
            <a:cxnSpLocks/>
          </p:cNvCxnSpPr>
          <p:nvPr userDrawn="1"/>
        </p:nvCxnSpPr>
        <p:spPr>
          <a:xfrm>
            <a:off x="155575" y="810000"/>
            <a:ext cx="11790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8FE4379-972E-42EA-875D-205082A0626A}"/>
              </a:ext>
            </a:extLst>
          </p:cNvPr>
          <p:cNvCxnSpPr>
            <a:cxnSpLocks/>
          </p:cNvCxnSpPr>
          <p:nvPr userDrawn="1"/>
        </p:nvCxnSpPr>
        <p:spPr>
          <a:xfrm>
            <a:off x="244800" y="863499"/>
            <a:ext cx="1179162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dirty="0">
                <a:solidFill>
                  <a:schemeClr val="tx2"/>
                </a:solidFill>
              </a:rPr>
              <a:t>Marc Schmidt </a:t>
            </a:r>
            <a:r>
              <a:rPr lang="de-DE" altLang="de-DE" sz="1000" baseline="0" dirty="0">
                <a:solidFill>
                  <a:schemeClr val="tx2"/>
                </a:solidFill>
              </a:rPr>
              <a:t>| RWTH Aachen</a:t>
            </a:r>
            <a:endParaRPr lang="de-DE" altLang="de-DE" sz="1000" dirty="0">
              <a:solidFill>
                <a:schemeClr val="tx2"/>
              </a:solidFill>
            </a:endParaRPr>
          </a:p>
        </p:txBody>
      </p:sp>
      <p:sp>
        <p:nvSpPr>
          <p:cNvPr id="1031" name="Textfeld 13"/>
          <p:cNvSpPr txBox="1">
            <a:spLocks noChangeArrowheads="1"/>
          </p:cNvSpPr>
          <p:nvPr userDrawn="1"/>
        </p:nvSpPr>
        <p:spPr bwMode="auto">
          <a:xfrm>
            <a:off x="3349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10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1000" dirty="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3" t="22537" r="3537" b="20492"/>
          <a:stretch>
            <a:fillRect/>
          </a:stretch>
        </p:blipFill>
        <p:spPr bwMode="auto">
          <a:xfrm>
            <a:off x="8855075" y="6223801"/>
            <a:ext cx="3001963" cy="46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CB409D8-D56C-486C-ABAB-CCD3DECF1835}"/>
              </a:ext>
            </a:extLst>
          </p:cNvPr>
          <p:cNvCxnSpPr>
            <a:cxnSpLocks/>
          </p:cNvCxnSpPr>
          <p:nvPr userDrawn="1"/>
        </p:nvCxnSpPr>
        <p:spPr>
          <a:xfrm>
            <a:off x="892800" y="6066000"/>
            <a:ext cx="0" cy="64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4">
            <a:extLst>
              <a:ext uri="{FF2B5EF4-FFF2-40B4-BE49-F238E27FC236}">
                <a16:creationId xmlns:a16="http://schemas.microsoft.com/office/drawing/2014/main" id="{74C29496-8E35-377C-06B6-C65D5B0CEA08}"/>
              </a:ext>
            </a:extLst>
          </p:cNvPr>
          <p:cNvCxnSpPr>
            <a:cxnSpLocks/>
          </p:cNvCxnSpPr>
          <p:nvPr userDrawn="1"/>
        </p:nvCxnSpPr>
        <p:spPr>
          <a:xfrm>
            <a:off x="154800" y="6012000"/>
            <a:ext cx="11790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5">
            <a:extLst>
              <a:ext uri="{FF2B5EF4-FFF2-40B4-BE49-F238E27FC236}">
                <a16:creationId xmlns:a16="http://schemas.microsoft.com/office/drawing/2014/main" id="{09D5EEAC-E2EB-16D0-A228-7DDCA9866D1B}"/>
              </a:ext>
            </a:extLst>
          </p:cNvPr>
          <p:cNvCxnSpPr>
            <a:cxnSpLocks/>
          </p:cNvCxnSpPr>
          <p:nvPr userDrawn="1"/>
        </p:nvCxnSpPr>
        <p:spPr>
          <a:xfrm>
            <a:off x="244800" y="6066000"/>
            <a:ext cx="1179162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1243A30B-762F-4D0C-8856-A9541783A9AC}"/>
              </a:ext>
            </a:extLst>
          </p:cNvPr>
          <p:cNvCxnSpPr>
            <a:cxnSpLocks/>
          </p:cNvCxnSpPr>
          <p:nvPr userDrawn="1"/>
        </p:nvCxnSpPr>
        <p:spPr>
          <a:xfrm>
            <a:off x="838800" y="6012000"/>
            <a:ext cx="0" cy="64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6" r:id="rId2"/>
    <p:sldLayoutId id="2147483911" r:id="rId3"/>
    <p:sldLayoutId id="2147483914" r:id="rId4"/>
    <p:sldLayoutId id="2147483912" r:id="rId5"/>
    <p:sldLayoutId id="2147483913" r:id="rId6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459" userDrawn="1">
          <p15:clr>
            <a:srgbClr val="F26B43"/>
          </p15:clr>
        </p15:guide>
        <p15:guide id="7" orient="horz" pos="640" userDrawn="1">
          <p15:clr>
            <a:srgbClr val="F26B43"/>
          </p15:clr>
        </p15:guide>
        <p15:guide id="8" orient="horz" pos="3725" userDrawn="1">
          <p15:clr>
            <a:srgbClr val="F26B43"/>
          </p15:clr>
        </p15:guide>
        <p15:guide id="9" orient="horz" pos="36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rwth-aachen.de/course/view.php?id=1903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epl.com/de/translator" TargetMode="External"/><Relationship Id="rId13" Type="http://schemas.openxmlformats.org/officeDocument/2006/relationships/hyperlink" Target="https://mermaid.js.org/" TargetMode="External"/><Relationship Id="rId3" Type="http://schemas.openxmlformats.org/officeDocument/2006/relationships/hyperlink" Target="https://app.grammarly.com/" TargetMode="External"/><Relationship Id="rId7" Type="http://schemas.openxmlformats.org/officeDocument/2006/relationships/hyperlink" Target="https://www.linguee.de/" TargetMode="External"/><Relationship Id="rId12" Type="http://schemas.openxmlformats.org/officeDocument/2006/relationships/hyperlink" Target="https://www.lucidchart.com/pages/de" TargetMode="Externa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sv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dict.cc/" TargetMode="External"/><Relationship Id="rId11" Type="http://schemas.openxmlformats.org/officeDocument/2006/relationships/hyperlink" Target="https://app.diagrams.net/" TargetMode="External"/><Relationship Id="rId5" Type="http://schemas.openxmlformats.org/officeDocument/2006/relationships/hyperlink" Target="https://www.zotero.org/" TargetMode="External"/><Relationship Id="rId15" Type="http://schemas.openxmlformats.org/officeDocument/2006/relationships/image" Target="../media/image8.svg"/><Relationship Id="rId10" Type="http://schemas.openxmlformats.org/officeDocument/2006/relationships/hyperlink" Target="https://www.ub.rwth-aachen.de/cms/ub/Service/Literatur-suchen/Datenbanken/~blwmnu/Web-of-Science/" TargetMode="External"/><Relationship Id="rId4" Type="http://schemas.openxmlformats.org/officeDocument/2006/relationships/hyperlink" Target="https://help.itc.rwth-aachen.de/service/vbf6fx0gom76/" TargetMode="External"/><Relationship Id="rId9" Type="http://schemas.openxmlformats.org/officeDocument/2006/relationships/hyperlink" Target="https://www.latex-project.org/" TargetMode="External"/><Relationship Id="rId1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hyperlink" Target="https://www.tf.fau.de/files/2023/09/KI-ChatGPT-_DFG-Leitlinien-fuer-Umgang-mit-generativen-Modellen-zur-Text-und-Bilderstellung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hyperlink" Target="https://www.prisma-statement.org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sv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4.svg"/><Relationship Id="rId7" Type="http://schemas.openxmlformats.org/officeDocument/2006/relationships/image" Target="../media/image3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36.svg"/><Relationship Id="rId10" Type="http://schemas.openxmlformats.org/officeDocument/2006/relationships/image" Target="../media/image40.svg"/><Relationship Id="rId4" Type="http://schemas.openxmlformats.org/officeDocument/2006/relationships/image" Target="../media/image35.svg"/><Relationship Id="rId9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99C0D-7326-A65B-AE05-96EF0895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6" y="3130440"/>
            <a:ext cx="11520000" cy="492443"/>
          </a:xfrm>
        </p:spPr>
        <p:txBody>
          <a:bodyPr/>
          <a:lstStyle/>
          <a:p>
            <a:r>
              <a:rPr lang="en-US" noProof="0" dirty="0"/>
              <a:t>An Introduction to Scientific Writing</a:t>
            </a:r>
            <a:endParaRPr lang="en-US" strike="sngStrik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FBA7D7-1A0D-9316-1A71-3302C333BD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000" y="3642603"/>
            <a:ext cx="11520000" cy="422405"/>
          </a:xfrm>
        </p:spPr>
        <p:txBody>
          <a:bodyPr/>
          <a:lstStyle/>
          <a:p>
            <a:r>
              <a:rPr lang="de-DE" dirty="0"/>
              <a:t>Research Software Engineering Management and Communication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F4D363-BC77-FAC7-B1A3-416E93EC15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003" y="4065008"/>
            <a:ext cx="11519995" cy="1253402"/>
          </a:xfrm>
        </p:spPr>
        <p:txBody>
          <a:bodyPr/>
          <a:lstStyle/>
          <a:p>
            <a:r>
              <a:rPr lang="en-US" noProof="0" dirty="0"/>
              <a:t>Marc Schmidt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schmidt@se-rwth.de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Engineering</a:t>
            </a:r>
          </a:p>
          <a:p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RWTH Aachen</a:t>
            </a:r>
          </a:p>
        </p:txBody>
      </p:sp>
    </p:spTree>
    <p:extLst>
      <p:ext uri="{BB962C8B-B14F-4D97-AF65-F5344CB8AC3E}">
        <p14:creationId xmlns:p14="http://schemas.microsoft.com/office/powerpoint/2010/main" val="32508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8733E0F-FF6C-1411-63E9-B0F5F670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Workshop Content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072BC45-5269-B836-82AF-6AFF7557D9B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81861231-3E81-C82B-1531-80A782980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398" y="1664000"/>
            <a:ext cx="3493728" cy="4070050"/>
          </a:xfrm>
          <a:prstGeom prst="rect">
            <a:avLst/>
          </a:prstGeom>
        </p:spPr>
      </p:pic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93B6A33-F3F9-33ED-510F-9E8063085683}"/>
              </a:ext>
            </a:extLst>
          </p:cNvPr>
          <p:cNvSpPr/>
          <p:nvPr/>
        </p:nvSpPr>
        <p:spPr>
          <a:xfrm>
            <a:off x="1465875" y="1016000"/>
            <a:ext cx="1800000" cy="648000"/>
          </a:xfrm>
          <a:prstGeom prst="roundRect">
            <a:avLst/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Problem / Question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D454F29D-E2D5-684F-9DDD-40E889D79F96}"/>
              </a:ext>
            </a:extLst>
          </p:cNvPr>
          <p:cNvSpPr/>
          <p:nvPr/>
        </p:nvSpPr>
        <p:spPr>
          <a:xfrm>
            <a:off x="1465875" y="2033513"/>
            <a:ext cx="1800000" cy="648000"/>
          </a:xfrm>
          <a:prstGeom prst="roundRect">
            <a:avLst/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Literature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Research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9423B3B-46B6-5FA2-9942-2EB58E7D8CBA}"/>
              </a:ext>
            </a:extLst>
          </p:cNvPr>
          <p:cNvSpPr/>
          <p:nvPr/>
        </p:nvSpPr>
        <p:spPr>
          <a:xfrm>
            <a:off x="1465875" y="3051026"/>
            <a:ext cx="1800000" cy="648000"/>
          </a:xfrm>
          <a:prstGeom prst="roundRect">
            <a:avLst/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Research </a:t>
            </a:r>
            <a:r>
              <a:rPr lang="de-DE" dirty="0" err="1">
                <a:solidFill>
                  <a:schemeClr val="tx1"/>
                </a:solidFill>
              </a:rPr>
              <a:t>Contribution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F7EB82CF-8B60-3B1E-025A-F97D2C072817}"/>
              </a:ext>
            </a:extLst>
          </p:cNvPr>
          <p:cNvSpPr/>
          <p:nvPr/>
        </p:nvSpPr>
        <p:spPr>
          <a:xfrm>
            <a:off x="1465875" y="4068539"/>
            <a:ext cx="1800000" cy="648000"/>
          </a:xfrm>
          <a:prstGeom prst="roundRect">
            <a:avLst/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AE5076B3-3CEF-5F6B-A63D-E4DE72E0EA9F}"/>
              </a:ext>
            </a:extLst>
          </p:cNvPr>
          <p:cNvSpPr/>
          <p:nvPr/>
        </p:nvSpPr>
        <p:spPr>
          <a:xfrm>
            <a:off x="1465875" y="5086050"/>
            <a:ext cx="1800000" cy="648000"/>
          </a:xfrm>
          <a:prstGeom prst="roundRect">
            <a:avLst/>
          </a:prstGeom>
          <a:noFill/>
          <a:ln w="3810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err="1">
                <a:solidFill>
                  <a:schemeClr val="tx2"/>
                </a:solidFill>
              </a:rPr>
              <a:t>Publication</a:t>
            </a:r>
            <a:r>
              <a:rPr lang="de-DE" b="1" dirty="0">
                <a:solidFill>
                  <a:schemeClr val="tx2"/>
                </a:solidFill>
              </a:rPr>
              <a:t> &amp;</a:t>
            </a:r>
            <a:br>
              <a:rPr lang="de-DE" b="1" dirty="0">
                <a:solidFill>
                  <a:schemeClr val="tx2"/>
                </a:solidFill>
              </a:rPr>
            </a:br>
            <a:r>
              <a:rPr lang="de-DE" b="1" dirty="0" err="1">
                <a:solidFill>
                  <a:schemeClr val="tx2"/>
                </a:solidFill>
              </a:rPr>
              <a:t>Presentation</a:t>
            </a:r>
            <a:endParaRPr lang="de-DE" b="1" dirty="0">
              <a:solidFill>
                <a:schemeClr val="tx2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D981AD6-1D89-85AE-9276-80DFE3B723D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365875" y="1664000"/>
            <a:ext cx="0" cy="36951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8D21B14-C640-AD69-265B-FF4689C20AE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365875" y="2681513"/>
            <a:ext cx="0" cy="36951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B5E7FBD-53C0-4D79-551A-6BB97F54EB5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365875" y="3699026"/>
            <a:ext cx="0" cy="36951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6F4934A-3902-A3EF-398A-0859EAB621F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365875" y="4716539"/>
            <a:ext cx="0" cy="369511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8C1F2DD-4316-C90A-3465-BDD1A70CF5AF}"/>
              </a:ext>
            </a:extLst>
          </p:cNvPr>
          <p:cNvGrpSpPr/>
          <p:nvPr/>
        </p:nvGrpSpPr>
        <p:grpSpPr>
          <a:xfrm>
            <a:off x="3674679" y="2483685"/>
            <a:ext cx="2038106" cy="1781093"/>
            <a:chOff x="4360485" y="2612281"/>
            <a:chExt cx="2038106" cy="1781093"/>
          </a:xfrm>
        </p:grpSpPr>
        <p:sp>
          <p:nvSpPr>
            <p:cNvPr id="26" name="Ring 25">
              <a:extLst>
                <a:ext uri="{FF2B5EF4-FFF2-40B4-BE49-F238E27FC236}">
                  <a16:creationId xmlns:a16="http://schemas.microsoft.com/office/drawing/2014/main" id="{6C7B6E3B-05C0-9FC9-809A-92EB3D89DE5E}"/>
                </a:ext>
              </a:extLst>
            </p:cNvPr>
            <p:cNvSpPr/>
            <p:nvPr/>
          </p:nvSpPr>
          <p:spPr>
            <a:xfrm>
              <a:off x="4624532" y="2612281"/>
              <a:ext cx="1774059" cy="1774058"/>
            </a:xfrm>
            <a:prstGeom prst="donut">
              <a:avLst>
                <a:gd name="adj" fmla="val 17600"/>
              </a:avLst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BD7DF5D3-CCC0-193A-2BCE-CDBE455C84F2}"/>
                </a:ext>
              </a:extLst>
            </p:cNvPr>
            <p:cNvSpPr/>
            <p:nvPr/>
          </p:nvSpPr>
          <p:spPr>
            <a:xfrm>
              <a:off x="4624533" y="3502183"/>
              <a:ext cx="891191" cy="89119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28" name="Rechtwinkliges Dreieck 27">
              <a:extLst>
                <a:ext uri="{FF2B5EF4-FFF2-40B4-BE49-F238E27FC236}">
                  <a16:creationId xmlns:a16="http://schemas.microsoft.com/office/drawing/2014/main" id="{A8C778DD-4268-6C59-9FC1-3DCAB6B43068}"/>
                </a:ext>
              </a:extLst>
            </p:cNvPr>
            <p:cNvSpPr/>
            <p:nvPr/>
          </p:nvSpPr>
          <p:spPr>
            <a:xfrm rot="18900000">
              <a:off x="4462940" y="3182660"/>
              <a:ext cx="632054" cy="636118"/>
            </a:xfrm>
            <a:prstGeom prst="rtTriangle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CD759331-3416-65F9-D00F-18EB3155B342}"/>
                </a:ext>
              </a:extLst>
            </p:cNvPr>
            <p:cNvSpPr/>
            <p:nvPr/>
          </p:nvSpPr>
          <p:spPr>
            <a:xfrm>
              <a:off x="4360485" y="4074252"/>
              <a:ext cx="1155239" cy="312087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F13620C4-B306-3940-15FD-4D35585A107E}"/>
              </a:ext>
            </a:extLst>
          </p:cNvPr>
          <p:cNvSpPr txBox="1"/>
          <p:nvPr/>
        </p:nvSpPr>
        <p:spPr>
          <a:xfrm>
            <a:off x="6096001" y="970668"/>
            <a:ext cx="575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tx2"/>
                </a:solidFill>
              </a:rPr>
              <a:t>Based</a:t>
            </a:r>
            <a:r>
              <a:rPr lang="de-DE" b="1" dirty="0">
                <a:solidFill>
                  <a:schemeClr val="tx2"/>
                </a:solidFill>
              </a:rPr>
              <a:t> on </a:t>
            </a:r>
            <a:r>
              <a:rPr lang="de-DE" b="1" dirty="0" err="1">
                <a:solidFill>
                  <a:schemeClr val="tx2"/>
                </a:solidFill>
              </a:rPr>
              <a:t>the</a:t>
            </a:r>
            <a:r>
              <a:rPr lang="de-DE" b="1" dirty="0">
                <a:solidFill>
                  <a:schemeClr val="tx2"/>
                </a:solidFill>
              </a:rPr>
              <a:t> RWTH </a:t>
            </a:r>
            <a:r>
              <a:rPr lang="de-DE" b="1" dirty="0" err="1">
                <a:solidFill>
                  <a:schemeClr val="tx2"/>
                </a:solidFill>
              </a:rPr>
              <a:t>course</a:t>
            </a:r>
            <a:br>
              <a:rPr lang="de-DE" b="1" dirty="0">
                <a:solidFill>
                  <a:schemeClr val="tx2"/>
                </a:solidFill>
              </a:rPr>
            </a:br>
            <a:r>
              <a:rPr lang="de-DE" b="1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„Scientific work in Computer Science“</a:t>
            </a:r>
            <a:endParaRPr lang="de-DE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84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F7F2D68-9200-78C2-DFA0-A4667DE60BB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Page Limits</a:t>
            </a:r>
          </a:p>
          <a:p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efficiency</a:t>
            </a:r>
            <a:endParaRPr lang="de-DE" dirty="0"/>
          </a:p>
          <a:p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concise</a:t>
            </a:r>
            <a:r>
              <a:rPr lang="de-DE" dirty="0"/>
              <a:t> and </a:t>
            </a:r>
            <a:r>
              <a:rPr lang="de-DE" dirty="0" err="1"/>
              <a:t>precise</a:t>
            </a:r>
            <a:r>
              <a:rPr lang="de-DE" dirty="0"/>
              <a:t> </a:t>
            </a:r>
            <a:r>
              <a:rPr lang="de-DE" dirty="0" err="1"/>
              <a:t>formulations</a:t>
            </a:r>
            <a:endParaRPr lang="de-DE" dirty="0"/>
          </a:p>
          <a:p>
            <a:r>
              <a:rPr lang="de-DE" dirty="0" err="1">
                <a:solidFill>
                  <a:schemeClr val="accent5"/>
                </a:solidFill>
              </a:rPr>
              <a:t>We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exclude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the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bibliography</a:t>
            </a:r>
            <a:endParaRPr lang="de-DE" dirty="0">
              <a:solidFill>
                <a:schemeClr val="accent5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br>
              <a:rPr lang="de-DE" b="1" dirty="0">
                <a:solidFill>
                  <a:schemeClr val="tx2"/>
                </a:solidFill>
              </a:rPr>
            </a:br>
            <a:r>
              <a:rPr lang="de-DE" b="1" dirty="0">
                <a:solidFill>
                  <a:schemeClr val="tx2"/>
                </a:solidFill>
              </a:rPr>
              <a:t>Appendix</a:t>
            </a:r>
          </a:p>
          <a:p>
            <a:r>
              <a:rPr lang="de-DE" dirty="0"/>
              <a:t>Not </a:t>
            </a:r>
            <a:r>
              <a:rPr lang="de-DE" dirty="0" err="1"/>
              <a:t>affected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 </a:t>
            </a:r>
            <a:r>
              <a:rPr lang="de-DE" dirty="0" err="1"/>
              <a:t>limits</a:t>
            </a:r>
            <a:endParaRPr lang="de-DE" dirty="0"/>
          </a:p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bulky</a:t>
            </a:r>
            <a:r>
              <a:rPr lang="de-DE" dirty="0"/>
              <a:t> </a:t>
            </a:r>
            <a:r>
              <a:rPr lang="de-DE" dirty="0" err="1"/>
              <a:t>transcripts</a:t>
            </a:r>
            <a:r>
              <a:rPr lang="de-DE" dirty="0"/>
              <a:t>, source code, experimental </a:t>
            </a:r>
            <a:r>
              <a:rPr lang="de-DE" dirty="0" err="1"/>
              <a:t>data</a:t>
            </a:r>
            <a:r>
              <a:rPr lang="de-DE" dirty="0"/>
              <a:t>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D00A64-6751-43BC-19BA-FD9D4B7B355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Scope</a:t>
            </a:r>
          </a:p>
          <a:p>
            <a:r>
              <a:rPr lang="de-DE" dirty="0" err="1"/>
              <a:t>Provides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knowledge</a:t>
            </a:r>
            <a:endParaRPr lang="de-DE" dirty="0"/>
          </a:p>
          <a:p>
            <a:r>
              <a:rPr lang="de-DE" dirty="0" err="1"/>
              <a:t>Contributes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research</a:t>
            </a:r>
            <a:endParaRPr lang="de-DE" dirty="0"/>
          </a:p>
          <a:p>
            <a:r>
              <a:rPr lang="de-DE" dirty="0" err="1"/>
              <a:t>Focuses</a:t>
            </a:r>
            <a:r>
              <a:rPr lang="de-DE" dirty="0"/>
              <a:t> on a </a:t>
            </a:r>
            <a:r>
              <a:rPr lang="de-DE" dirty="0" err="1"/>
              <a:t>small</a:t>
            </a:r>
            <a:r>
              <a:rPr lang="de-DE" dirty="0"/>
              <a:t>, </a:t>
            </a:r>
            <a:r>
              <a:rPr lang="de-DE" dirty="0" err="1"/>
              <a:t>clearly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area</a:t>
            </a:r>
            <a:endParaRPr lang="de-DE" dirty="0"/>
          </a:p>
          <a:p>
            <a:r>
              <a:rPr lang="de-DE" dirty="0"/>
              <a:t>Usually </a:t>
            </a:r>
            <a:r>
              <a:rPr lang="de-DE" dirty="0" err="1"/>
              <a:t>presented</a:t>
            </a:r>
            <a:r>
              <a:rPr lang="de-DE" dirty="0"/>
              <a:t> at </a:t>
            </a:r>
            <a:r>
              <a:rPr lang="de-DE" dirty="0" err="1"/>
              <a:t>conferences</a:t>
            </a:r>
            <a:endParaRPr lang="de-DE" dirty="0"/>
          </a:p>
          <a:p>
            <a:r>
              <a:rPr lang="de-DE" dirty="0" err="1"/>
              <a:t>Follows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journals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seminars</a:t>
            </a:r>
            <a:r>
              <a:rPr lang="de-DE" dirty="0"/>
              <a:t> </a:t>
            </a:r>
            <a:r>
              <a:rPr lang="de-DE" dirty="0" err="1"/>
              <a:t>formalities</a:t>
            </a:r>
            <a:endParaRPr lang="de-DE" dirty="0"/>
          </a:p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809C7DC-7533-584F-009E-5D78D038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</a:t>
            </a:r>
            <a:r>
              <a:rPr lang="de-DE" dirty="0" err="1"/>
              <a:t>Characteristics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Scientific Papers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84C998-18B0-A45A-2C62-EB21375C3E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Geöffneter Ordner Silhouette">
            <a:extLst>
              <a:ext uri="{FF2B5EF4-FFF2-40B4-BE49-F238E27FC236}">
                <a16:creationId xmlns:a16="http://schemas.microsoft.com/office/drawing/2014/main" id="{E2ADD4ED-AD73-4C7D-9332-E6FF9CFD2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038" y="2492593"/>
            <a:ext cx="720000" cy="720000"/>
          </a:xfrm>
          <a:prstGeom prst="rect">
            <a:avLst/>
          </a:prstGeom>
        </p:spPr>
      </p:pic>
      <p:pic>
        <p:nvPicPr>
          <p:cNvPr id="12" name="Grafik 11" descr="Kennzeichen Silhouette">
            <a:extLst>
              <a:ext uri="{FF2B5EF4-FFF2-40B4-BE49-F238E27FC236}">
                <a16:creationId xmlns:a16="http://schemas.microsoft.com/office/drawing/2014/main" id="{2EC484F2-63C1-B8C6-81E2-EFC119910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2486" y="1016000"/>
            <a:ext cx="720000" cy="720000"/>
          </a:xfrm>
          <a:prstGeom prst="rect">
            <a:avLst/>
          </a:prstGeom>
        </p:spPr>
      </p:pic>
      <p:pic>
        <p:nvPicPr>
          <p:cNvPr id="14" name="Grafik 13" descr="Dokument Silhouette">
            <a:extLst>
              <a:ext uri="{FF2B5EF4-FFF2-40B4-BE49-F238E27FC236}">
                <a16:creationId xmlns:a16="http://schemas.microsoft.com/office/drawing/2014/main" id="{038DC391-40BF-28ED-916D-4A869BD0B6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7038" y="1016000"/>
            <a:ext cx="720000" cy="720000"/>
          </a:xfrm>
          <a:prstGeom prst="rect">
            <a:avLst/>
          </a:prstGeom>
        </p:spPr>
      </p:pic>
      <p:sp>
        <p:nvSpPr>
          <p:cNvPr id="5" name="Bogen 4">
            <a:extLst>
              <a:ext uri="{FF2B5EF4-FFF2-40B4-BE49-F238E27FC236}">
                <a16:creationId xmlns:a16="http://schemas.microsoft.com/office/drawing/2014/main" id="{683E1006-7064-3FE2-1AA1-9D38D9C714C6}"/>
              </a:ext>
            </a:extLst>
          </p:cNvPr>
          <p:cNvSpPr/>
          <p:nvPr/>
        </p:nvSpPr>
        <p:spPr>
          <a:xfrm>
            <a:off x="8936831" y="2200275"/>
            <a:ext cx="1057275" cy="950119"/>
          </a:xfrm>
          <a:prstGeom prst="arc">
            <a:avLst>
              <a:gd name="adj1" fmla="val 16200000"/>
              <a:gd name="adj2" fmla="val 19895223"/>
            </a:avLst>
          </a:prstGeom>
          <a:ln w="19050">
            <a:solidFill>
              <a:schemeClr val="tx2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588B028-DC75-C709-FA89-9684EFF7C30B}"/>
              </a:ext>
            </a:extLst>
          </p:cNvPr>
          <p:cNvSpPr txBox="1"/>
          <p:nvPr/>
        </p:nvSpPr>
        <p:spPr>
          <a:xfrm>
            <a:off x="9067037" y="2427441"/>
            <a:ext cx="1968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we</a:t>
            </a:r>
            <a:r>
              <a:rPr lang="de-DE" i="1" dirty="0">
                <a:solidFill>
                  <a:schemeClr val="tx2"/>
                </a:solidFill>
                <a:latin typeface="Trebuchet MS" panose="020B0703020202090204" pitchFamily="34" charset="0"/>
              </a:rPr>
              <a:t> </a:t>
            </a:r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mark</a:t>
            </a:r>
            <a:r>
              <a:rPr lang="de-DE" i="1" dirty="0">
                <a:solidFill>
                  <a:schemeClr val="tx2"/>
                </a:solidFill>
                <a:latin typeface="Trebuchet MS" panose="020B0703020202090204" pitchFamily="34" charset="0"/>
              </a:rPr>
              <a:t> </a:t>
            </a:r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seminar</a:t>
            </a:r>
            <a:endParaRPr lang="de-DE" i="1" dirty="0">
              <a:solidFill>
                <a:schemeClr val="tx2"/>
              </a:solidFill>
              <a:latin typeface="Trebuchet MS" panose="020B0703020202090204" pitchFamily="34" charset="0"/>
            </a:endParaRPr>
          </a:p>
          <a:p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specifics</a:t>
            </a:r>
            <a:r>
              <a:rPr lang="de-DE" i="1" dirty="0">
                <a:solidFill>
                  <a:schemeClr val="tx2"/>
                </a:solidFill>
                <a:latin typeface="Trebuchet MS" panose="020B0703020202090204" pitchFamily="34" charset="0"/>
              </a:rPr>
              <a:t> orange</a:t>
            </a:r>
          </a:p>
        </p:txBody>
      </p:sp>
    </p:spTree>
    <p:extLst>
      <p:ext uri="{BB962C8B-B14F-4D97-AF65-F5344CB8AC3E}">
        <p14:creationId xmlns:p14="http://schemas.microsoft.com/office/powerpoint/2010/main" val="36653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3482B740-CAC7-7A9B-C59A-C97A9E003522}"/>
              </a:ext>
            </a:extLst>
          </p:cNvPr>
          <p:cNvCxnSpPr>
            <a:cxnSpLocks/>
          </p:cNvCxnSpPr>
          <p:nvPr/>
        </p:nvCxnSpPr>
        <p:spPr>
          <a:xfrm>
            <a:off x="6096000" y="2474897"/>
            <a:ext cx="0" cy="803253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905C5B64-08CB-51C1-D445-57783F37E551}"/>
              </a:ext>
            </a:extLst>
          </p:cNvPr>
          <p:cNvCxnSpPr>
            <a:cxnSpLocks/>
          </p:cNvCxnSpPr>
          <p:nvPr/>
        </p:nvCxnSpPr>
        <p:spPr>
          <a:xfrm flipH="1">
            <a:off x="731054" y="2713196"/>
            <a:ext cx="0" cy="531138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169F1F8B-B70E-BA15-E8FF-344C2F2FE1AF}"/>
              </a:ext>
            </a:extLst>
          </p:cNvPr>
          <p:cNvCxnSpPr>
            <a:cxnSpLocks/>
          </p:cNvCxnSpPr>
          <p:nvPr/>
        </p:nvCxnSpPr>
        <p:spPr>
          <a:xfrm flipV="1">
            <a:off x="731054" y="3613666"/>
            <a:ext cx="0" cy="769437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4FE7FB01-52CD-3747-853B-C6ACC1FA9AAB}"/>
              </a:ext>
            </a:extLst>
          </p:cNvPr>
          <p:cNvCxnSpPr>
            <a:cxnSpLocks/>
          </p:cNvCxnSpPr>
          <p:nvPr/>
        </p:nvCxnSpPr>
        <p:spPr>
          <a:xfrm flipH="1">
            <a:off x="2538144" y="2474897"/>
            <a:ext cx="1261355" cy="769437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5EC0F550-5B30-E782-6A60-7BED7F2FDBDA}"/>
              </a:ext>
            </a:extLst>
          </p:cNvPr>
          <p:cNvCxnSpPr>
            <a:cxnSpLocks/>
            <a:stCxn id="10" idx="0"/>
            <a:endCxn id="13" idx="2"/>
          </p:cNvCxnSpPr>
          <p:nvPr/>
        </p:nvCxnSpPr>
        <p:spPr>
          <a:xfrm flipV="1">
            <a:off x="4991934" y="3732816"/>
            <a:ext cx="1468351" cy="650287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F8291943-9546-A49D-EA2E-C2394F262962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6460285" y="3732816"/>
            <a:ext cx="918123" cy="297051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2C244BDA-52E2-4563-D3E8-F2D1ED41D3AA}"/>
              </a:ext>
            </a:extLst>
          </p:cNvPr>
          <p:cNvCxnSpPr>
            <a:cxnSpLocks/>
          </p:cNvCxnSpPr>
          <p:nvPr/>
        </p:nvCxnSpPr>
        <p:spPr>
          <a:xfrm flipV="1">
            <a:off x="9306547" y="3569941"/>
            <a:ext cx="1239264" cy="813162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>
            <a:extLst>
              <a:ext uri="{FF2B5EF4-FFF2-40B4-BE49-F238E27FC236}">
                <a16:creationId xmlns:a16="http://schemas.microsoft.com/office/drawing/2014/main" id="{30CCBC0C-00E7-5F2A-3318-9BADF8FBDC7C}"/>
              </a:ext>
            </a:extLst>
          </p:cNvPr>
          <p:cNvCxnSpPr>
            <a:cxnSpLocks/>
          </p:cNvCxnSpPr>
          <p:nvPr/>
        </p:nvCxnSpPr>
        <p:spPr>
          <a:xfrm>
            <a:off x="10260701" y="2744678"/>
            <a:ext cx="0" cy="533472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E87DDD85-9B66-6D06-EA70-034E04BBCCDE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460285" y="2744678"/>
            <a:ext cx="1291885" cy="618806"/>
          </a:xfrm>
          <a:prstGeom prst="line">
            <a:avLst/>
          </a:prstGeom>
          <a:ln w="2540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5DCAA33-4385-1990-1322-D923EFDE3B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8152" y="4383103"/>
            <a:ext cx="4616648" cy="1350947"/>
          </a:xfrm>
        </p:spPr>
        <p:txBody>
          <a:bodyPr wrap="non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de-DE" b="1" dirty="0">
                <a:solidFill>
                  <a:schemeClr val="tx2"/>
                </a:solidFill>
              </a:rPr>
              <a:t>Writing Assistants</a:t>
            </a:r>
          </a:p>
          <a:p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editor</a:t>
            </a:r>
            <a:r>
              <a:rPr lang="de-DE" dirty="0"/>
              <a:t> </a:t>
            </a:r>
            <a:r>
              <a:rPr lang="de-DE" dirty="0" err="1"/>
              <a:t>spellchecker</a:t>
            </a:r>
            <a:endParaRPr lang="de-DE" dirty="0"/>
          </a:p>
          <a:p>
            <a:r>
              <a:rPr lang="de-DE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Grammarly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spelling</a:t>
            </a:r>
            <a:r>
              <a:rPr lang="de-DE" dirty="0"/>
              <a:t>, </a:t>
            </a:r>
            <a:r>
              <a:rPr lang="de-DE" dirty="0" err="1"/>
              <a:t>grammar</a:t>
            </a:r>
            <a:r>
              <a:rPr lang="de-DE" dirty="0"/>
              <a:t>, tone</a:t>
            </a:r>
          </a:p>
          <a:p>
            <a:r>
              <a:rPr lang="de-DE" dirty="0"/>
              <a:t>Use LLMs </a:t>
            </a:r>
            <a:r>
              <a:rPr lang="de-DE" dirty="0" err="1"/>
              <a:t>carefully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4905D4-3BD3-28BA-0B52-8D0CB82AE4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1016000"/>
            <a:ext cx="2829186" cy="1697196"/>
          </a:xfrm>
        </p:spPr>
        <p:txBody>
          <a:bodyPr wrap="non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de-DE" b="1" dirty="0" err="1">
                <a:solidFill>
                  <a:schemeClr val="tx2"/>
                </a:solidFill>
              </a:rPr>
              <a:t>Literature</a:t>
            </a:r>
            <a:r>
              <a:rPr lang="de-DE" b="1" dirty="0">
                <a:solidFill>
                  <a:schemeClr val="tx2"/>
                </a:solidFill>
              </a:rPr>
              <a:t> Management</a:t>
            </a:r>
            <a:endParaRPr lang="de-DE" b="1" dirty="0">
              <a:solidFill>
                <a:schemeClr val="tx2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de-DE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Zotero</a:t>
            </a:r>
            <a:r>
              <a:rPr lang="de-DE" dirty="0"/>
              <a:t> </a:t>
            </a:r>
            <a:r>
              <a:rPr lang="de-DE" dirty="0" err="1"/>
              <a:t>organizes</a:t>
            </a:r>
            <a:r>
              <a:rPr lang="de-DE" dirty="0"/>
              <a:t> and</a:t>
            </a:r>
            <a:br>
              <a:rPr lang="de-DE" dirty="0"/>
            </a:br>
            <a:r>
              <a:rPr lang="de-DE" dirty="0" err="1"/>
              <a:t>tracks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</a:p>
          <a:p>
            <a:r>
              <a:rPr lang="de-DE" dirty="0"/>
              <a:t>Add </a:t>
            </a:r>
            <a:r>
              <a:rPr lang="de-DE" dirty="0" err="1"/>
              <a:t>notes</a:t>
            </a:r>
            <a:r>
              <a:rPr lang="de-DE" dirty="0"/>
              <a:t> and </a:t>
            </a:r>
            <a:r>
              <a:rPr lang="de-DE" dirty="0" err="1"/>
              <a:t>relevance</a:t>
            </a:r>
            <a:endParaRPr lang="de-DE" dirty="0"/>
          </a:p>
          <a:p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duplicates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D043C6-ED84-2245-1605-36EA934DACB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62186" y="1016000"/>
            <a:ext cx="3449662" cy="1350947"/>
          </a:xfr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Translation Tools</a:t>
            </a:r>
          </a:p>
          <a:p>
            <a:r>
              <a:rPr lang="de-DE" dirty="0"/>
              <a:t>Look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technical</a:t>
            </a:r>
            <a:r>
              <a:rPr lang="de-DE" dirty="0"/>
              <a:t> </a:t>
            </a:r>
            <a:r>
              <a:rPr lang="de-DE" dirty="0" err="1"/>
              <a:t>terms</a:t>
            </a:r>
            <a:r>
              <a:rPr lang="de-DE" dirty="0"/>
              <a:t> </a:t>
            </a:r>
          </a:p>
          <a:p>
            <a:r>
              <a:rPr lang="de-DE" dirty="0"/>
              <a:t>Use </a:t>
            </a:r>
            <a:r>
              <a:rPr lang="de-DE" dirty="0" err="1"/>
              <a:t>context</a:t>
            </a:r>
            <a:r>
              <a:rPr lang="de-DE" dirty="0"/>
              <a:t>-aware </a:t>
            </a:r>
            <a:r>
              <a:rPr lang="de-DE" dirty="0" err="1"/>
              <a:t>translations</a:t>
            </a:r>
            <a:r>
              <a:rPr lang="de-DE" dirty="0"/>
              <a:t> </a:t>
            </a:r>
          </a:p>
          <a:p>
            <a:r>
              <a:rPr lang="de-DE" dirty="0">
                <a:solidFill>
                  <a:schemeClr val="bg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Dict.cc</a:t>
            </a:r>
            <a:r>
              <a:rPr lang="de-DE" dirty="0"/>
              <a:t>, </a:t>
            </a:r>
            <a:r>
              <a:rPr lang="de-DE" dirty="0">
                <a:solidFill>
                  <a:schemeClr val="bg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Linguee</a:t>
            </a:r>
            <a:r>
              <a:rPr lang="de-DE" dirty="0"/>
              <a:t>, </a:t>
            </a:r>
            <a:r>
              <a:rPr lang="de-DE" dirty="0">
                <a:solidFill>
                  <a:schemeClr val="bg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DeepL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E4EFF79-AB6E-E63D-E36D-3F7B9ED1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Useful</a:t>
            </a:r>
            <a:r>
              <a:rPr lang="de-DE" dirty="0"/>
              <a:t> Tools</a:t>
            </a:r>
          </a:p>
        </p:txBody>
      </p:sp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8DA65CE5-5EB3-4A8C-B74B-504A3B6F28F4}"/>
              </a:ext>
            </a:extLst>
          </p:cNvPr>
          <p:cNvSpPr txBox="1">
            <a:spLocks/>
          </p:cNvSpPr>
          <p:nvPr/>
        </p:nvSpPr>
        <p:spPr>
          <a:xfrm>
            <a:off x="3324811" y="4383103"/>
            <a:ext cx="3334246" cy="13509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159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z="1600" b="0" i="0" kern="1200" spc="0" baseline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solidFill>
                  <a:schemeClr val="tx2"/>
                </a:solidFill>
              </a:rPr>
              <a:t>Writing Tools</a:t>
            </a:r>
          </a:p>
          <a:p>
            <a:r>
              <a:rPr lang="de-DE" strike="sngStrike" dirty="0"/>
              <a:t>MS Word</a:t>
            </a:r>
          </a:p>
          <a:p>
            <a:r>
              <a:rPr lang="de-DE" altLang="de-DE" dirty="0" err="1">
                <a:solidFill>
                  <a:schemeClr val="bg2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LaTeX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scientific</a:t>
            </a:r>
            <a:r>
              <a:rPr lang="de-DE" altLang="de-DE" dirty="0"/>
              <a:t> </a:t>
            </a:r>
            <a:r>
              <a:rPr lang="de-DE" altLang="de-DE" dirty="0" err="1"/>
              <a:t>papers</a:t>
            </a:r>
            <a:endParaRPr lang="de-DE" altLang="de-DE" dirty="0"/>
          </a:p>
          <a:p>
            <a:r>
              <a:rPr lang="de-DE" altLang="de-DE" dirty="0"/>
              <a:t>Better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formulas</a:t>
            </a:r>
            <a:r>
              <a:rPr lang="de-DE" altLang="de-DE" dirty="0"/>
              <a:t>, </a:t>
            </a:r>
            <a:r>
              <a:rPr lang="de-DE" altLang="de-DE" dirty="0" err="1"/>
              <a:t>references</a:t>
            </a:r>
            <a:endParaRPr lang="de-DE" altLang="de-DE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43864796-1CBF-F7D5-0528-DAB70333AC4E}"/>
              </a:ext>
            </a:extLst>
          </p:cNvPr>
          <p:cNvSpPr txBox="1">
            <a:spLocks/>
          </p:cNvSpPr>
          <p:nvPr/>
        </p:nvSpPr>
        <p:spPr>
          <a:xfrm>
            <a:off x="334799" y="4383103"/>
            <a:ext cx="2710617" cy="1350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159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 err="1">
                <a:solidFill>
                  <a:schemeClr val="tx2"/>
                </a:solidFill>
              </a:rPr>
              <a:t>Literature</a:t>
            </a:r>
            <a:r>
              <a:rPr lang="de-DE" b="1" dirty="0">
                <a:solidFill>
                  <a:schemeClr val="tx2"/>
                </a:solidFill>
              </a:rPr>
              <a:t> Access</a:t>
            </a:r>
          </a:p>
          <a:p>
            <a:r>
              <a:rPr lang="de-DE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VPN</a:t>
            </a:r>
            <a:r>
              <a:rPr lang="de-DE" dirty="0">
                <a:solidFill>
                  <a:schemeClr val="bg2"/>
                </a:solidFill>
              </a:rPr>
              <a:t>:</a:t>
            </a:r>
            <a:r>
              <a:rPr lang="de-DE" b="1" dirty="0"/>
              <a:t> </a:t>
            </a:r>
            <a:r>
              <a:rPr lang="de-DE" dirty="0"/>
              <a:t>remote </a:t>
            </a:r>
            <a:r>
              <a:rPr lang="de-DE" dirty="0" err="1"/>
              <a:t>access</a:t>
            </a:r>
            <a:br>
              <a:rPr lang="de-DE" dirty="0"/>
            </a:b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licensed</a:t>
            </a:r>
            <a:r>
              <a:rPr lang="de-DE" dirty="0"/>
              <a:t> </a:t>
            </a:r>
            <a:r>
              <a:rPr lang="de-DE" dirty="0" err="1"/>
              <a:t>literature</a:t>
            </a:r>
            <a:endParaRPr lang="de-DE" dirty="0"/>
          </a:p>
          <a:p>
            <a:r>
              <a:rPr lang="de-DE" dirty="0">
                <a:solidFill>
                  <a:schemeClr val="bg2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</a:t>
            </a:r>
            <a:r>
              <a:rPr lang="de-DE" dirty="0" err="1">
                <a:solidFill>
                  <a:schemeClr val="bg2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de-DE" dirty="0">
                <a:solidFill>
                  <a:schemeClr val="bg2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Science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65F47BDB-188E-095F-6BA9-E8026812E39A}"/>
              </a:ext>
            </a:extLst>
          </p:cNvPr>
          <p:cNvSpPr txBox="1">
            <a:spLocks/>
          </p:cNvSpPr>
          <p:nvPr/>
        </p:nvSpPr>
        <p:spPr>
          <a:xfrm>
            <a:off x="7523532" y="1016000"/>
            <a:ext cx="4342535" cy="16971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159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8000" indent="-2160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4000" marR="0" indent="-216000" algn="l" defTabSz="2159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z="1600" b="0" i="0" kern="1200" spc="0" baseline="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 err="1">
                <a:solidFill>
                  <a:schemeClr val="tx2"/>
                </a:solidFill>
              </a:rPr>
              <a:t>Visualization</a:t>
            </a:r>
            <a:endParaRPr lang="de-DE" b="1" dirty="0">
              <a:solidFill>
                <a:schemeClr val="tx2"/>
              </a:solidFill>
            </a:endParaRPr>
          </a:p>
          <a:p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</a:p>
          <a:p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&amp; </a:t>
            </a:r>
            <a:r>
              <a:rPr lang="de-DE" dirty="0" err="1"/>
              <a:t>presentations</a:t>
            </a:r>
            <a:r>
              <a:rPr lang="de-DE" dirty="0"/>
              <a:t> </a:t>
            </a:r>
          </a:p>
          <a:p>
            <a:r>
              <a:rPr lang="de-DE" dirty="0"/>
              <a:t>Sketches: </a:t>
            </a:r>
            <a:r>
              <a:rPr lang="de-DE" dirty="0">
                <a:solidFill>
                  <a:schemeClr val="bg2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Draw.io</a:t>
            </a:r>
            <a:r>
              <a:rPr lang="de-DE" dirty="0"/>
              <a:t>, </a:t>
            </a:r>
            <a:r>
              <a:rPr lang="de-DE" dirty="0">
                <a:solidFill>
                  <a:schemeClr val="bg2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Lucidchart</a:t>
            </a:r>
            <a:r>
              <a:rPr lang="de-DE" dirty="0"/>
              <a:t>, </a:t>
            </a:r>
            <a:r>
              <a:rPr lang="de-DE" dirty="0">
                <a:solidFill>
                  <a:schemeClr val="bg2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Mermaid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 err="1">
                <a:solidFill>
                  <a:schemeClr val="accent5"/>
                </a:solidFill>
              </a:rPr>
              <a:t>We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require</a:t>
            </a:r>
            <a:r>
              <a:rPr lang="de-DE" dirty="0">
                <a:solidFill>
                  <a:schemeClr val="accent5"/>
                </a:solidFill>
              </a:rPr>
              <a:t> PowerPoint </a:t>
            </a:r>
            <a:r>
              <a:rPr lang="de-DE" dirty="0" err="1">
                <a:solidFill>
                  <a:schemeClr val="accent5"/>
                </a:solidFill>
              </a:rPr>
              <a:t>for</a:t>
            </a:r>
            <a:r>
              <a:rPr lang="de-DE" dirty="0">
                <a:solidFill>
                  <a:schemeClr val="accent5"/>
                </a:solidFill>
              </a:rPr>
              <a:t> final </a:t>
            </a:r>
            <a:r>
              <a:rPr lang="de-DE" dirty="0" err="1">
                <a:solidFill>
                  <a:schemeClr val="accent5"/>
                </a:solidFill>
              </a:rPr>
              <a:t>graphics</a:t>
            </a:r>
            <a:endParaRPr lang="de-DE" dirty="0">
              <a:solidFill>
                <a:schemeClr val="accent5"/>
              </a:solidFill>
            </a:endParaRPr>
          </a:p>
        </p:txBody>
      </p: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FDC99AE3-64C0-5293-457B-272D0BC1CDD1}"/>
              </a:ext>
            </a:extLst>
          </p:cNvPr>
          <p:cNvGrpSpPr/>
          <p:nvPr/>
        </p:nvGrpSpPr>
        <p:grpSpPr>
          <a:xfrm>
            <a:off x="334800" y="2828150"/>
            <a:ext cx="11520000" cy="1440000"/>
            <a:chOff x="334800" y="2709000"/>
            <a:chExt cx="11520000" cy="1440000"/>
          </a:xfrm>
        </p:grpSpPr>
        <p:sp>
          <p:nvSpPr>
            <p:cNvPr id="9" name="Eingebuchteter Pfeil nach rechts 8">
              <a:extLst>
                <a:ext uri="{FF2B5EF4-FFF2-40B4-BE49-F238E27FC236}">
                  <a16:creationId xmlns:a16="http://schemas.microsoft.com/office/drawing/2014/main" id="{C294C059-9B42-841F-1CBF-3397832F34B6}"/>
                </a:ext>
              </a:extLst>
            </p:cNvPr>
            <p:cNvSpPr/>
            <p:nvPr/>
          </p:nvSpPr>
          <p:spPr>
            <a:xfrm>
              <a:off x="334800" y="2709000"/>
              <a:ext cx="11520000" cy="1440000"/>
            </a:xfrm>
            <a:prstGeom prst="notchedRightArrow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0"/>
            </a:gradFill>
            <a:ln w="19050">
              <a:noFill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B1E7DCF-78AE-0C94-9F22-4457DA674C33}"/>
                </a:ext>
              </a:extLst>
            </p:cNvPr>
            <p:cNvSpPr txBox="1"/>
            <p:nvPr/>
          </p:nvSpPr>
          <p:spPr>
            <a:xfrm>
              <a:off x="1270276" y="3244334"/>
              <a:ext cx="2108269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indent="0">
                <a:buNone/>
              </a:pPr>
              <a:r>
                <a:rPr lang="de-DE" b="1" dirty="0" err="1">
                  <a:solidFill>
                    <a:schemeClr val="tx2"/>
                  </a:solidFill>
                </a:rPr>
                <a:t>Literature</a:t>
              </a:r>
              <a:r>
                <a:rPr lang="de-DE" b="1" dirty="0">
                  <a:solidFill>
                    <a:schemeClr val="tx2"/>
                  </a:solidFill>
                </a:rPr>
                <a:t> Review</a:t>
              </a:r>
              <a:endParaRPr lang="de-DE" b="1" dirty="0">
                <a:solidFill>
                  <a:schemeClr val="tx2"/>
                </a:solidFill>
                <a:hlinkClick r:id="rId4"/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5CA2D44F-A0BE-7414-5808-A773B5EDCA11}"/>
                </a:ext>
              </a:extLst>
            </p:cNvPr>
            <p:cNvSpPr txBox="1"/>
            <p:nvPr/>
          </p:nvSpPr>
          <p:spPr>
            <a:xfrm>
              <a:off x="5972491" y="3244334"/>
              <a:ext cx="9755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indent="0">
                <a:buNone/>
              </a:pPr>
              <a:r>
                <a:rPr lang="de-DE" b="1" dirty="0">
                  <a:solidFill>
                    <a:schemeClr val="tx2"/>
                  </a:solidFill>
                </a:rPr>
                <a:t>Writing</a:t>
              </a:r>
              <a:endParaRPr lang="de-DE" b="1" dirty="0">
                <a:solidFill>
                  <a:schemeClr val="tx2"/>
                </a:solidFill>
                <a:hlinkClick r:id="rId4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CBE070F-A70A-0506-0F67-8A60BC66871F}"/>
                </a:ext>
              </a:extLst>
            </p:cNvPr>
            <p:cNvSpPr txBox="1"/>
            <p:nvPr/>
          </p:nvSpPr>
          <p:spPr>
            <a:xfrm>
              <a:off x="10181989" y="3244334"/>
              <a:ext cx="13773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indent="0">
                <a:buNone/>
              </a:pPr>
              <a:r>
                <a:rPr lang="de-DE" b="1" dirty="0" err="1">
                  <a:solidFill>
                    <a:schemeClr val="tx2"/>
                  </a:solidFill>
                </a:rPr>
                <a:t>Presenting</a:t>
              </a:r>
              <a:endParaRPr lang="de-DE" b="1" dirty="0">
                <a:solidFill>
                  <a:schemeClr val="tx2"/>
                </a:solidFill>
                <a:hlinkClick r:id="rId4"/>
              </a:endParaRPr>
            </a:p>
          </p:txBody>
        </p:sp>
        <p:pic>
          <p:nvPicPr>
            <p:cNvPr id="84" name="Grafik 83" descr="Dozent Silhouette">
              <a:extLst>
                <a:ext uri="{FF2B5EF4-FFF2-40B4-BE49-F238E27FC236}">
                  <a16:creationId xmlns:a16="http://schemas.microsoft.com/office/drawing/2014/main" id="{E7935650-C2F6-9469-9445-1554009880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56683" y="3159000"/>
              <a:ext cx="540000" cy="540000"/>
            </a:xfrm>
            <a:prstGeom prst="rect">
              <a:avLst/>
            </a:prstGeom>
          </p:spPr>
        </p:pic>
        <p:pic>
          <p:nvPicPr>
            <p:cNvPr id="86" name="Grafik 85" descr="Stift Silhouette">
              <a:extLst>
                <a:ext uri="{FF2B5EF4-FFF2-40B4-BE49-F238E27FC236}">
                  <a16:creationId xmlns:a16="http://schemas.microsoft.com/office/drawing/2014/main" id="{D027729F-A500-301B-68F1-99AB046EB5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434773" y="3159000"/>
              <a:ext cx="540000" cy="540000"/>
            </a:xfrm>
            <a:prstGeom prst="rect">
              <a:avLst/>
            </a:prstGeom>
          </p:spPr>
        </p:pic>
        <p:pic>
          <p:nvPicPr>
            <p:cNvPr id="88" name="Grafik 87" descr="Bücher Silhouette">
              <a:extLst>
                <a:ext uri="{FF2B5EF4-FFF2-40B4-BE49-F238E27FC236}">
                  <a16:creationId xmlns:a16="http://schemas.microsoft.com/office/drawing/2014/main" id="{3D644C6A-2AD0-C50D-3CE5-5B6BDDEF9D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75888" y="3159000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055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CFDF71E-1B7F-9857-E200-9491517845E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principles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practice</a:t>
            </a:r>
            <a:endParaRPr lang="de-DE" dirty="0"/>
          </a:p>
          <a:p>
            <a:r>
              <a:rPr lang="de-DE" dirty="0" err="1"/>
              <a:t>Allowed</a:t>
            </a:r>
            <a:r>
              <a:rPr lang="de-DE" dirty="0"/>
              <a:t> but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transparent and </a:t>
            </a:r>
            <a:r>
              <a:rPr lang="de-DE" dirty="0" err="1"/>
              <a:t>properly</a:t>
            </a:r>
            <a:r>
              <a:rPr lang="de-DE" dirty="0"/>
              <a:t> </a:t>
            </a:r>
            <a:r>
              <a:rPr lang="de-DE" dirty="0" err="1"/>
              <a:t>disclosed</a:t>
            </a:r>
            <a:endParaRPr lang="de-DE" dirty="0"/>
          </a:p>
          <a:p>
            <a:r>
              <a:rPr lang="de-DE" dirty="0"/>
              <a:t>Researchers </a:t>
            </a:r>
            <a:r>
              <a:rPr lang="de-DE" dirty="0" err="1"/>
              <a:t>remain</a:t>
            </a:r>
            <a:r>
              <a:rPr lang="de-DE" dirty="0"/>
              <a:t> fully </a:t>
            </a:r>
            <a:r>
              <a:rPr lang="de-DE" dirty="0" err="1"/>
              <a:t>responsible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and </a:t>
            </a:r>
            <a:r>
              <a:rPr lang="de-DE" dirty="0" err="1"/>
              <a:t>integrity</a:t>
            </a:r>
            <a:endParaRPr lang="de-DE" dirty="0"/>
          </a:p>
          <a:p>
            <a:r>
              <a:rPr lang="de-DE" dirty="0"/>
              <a:t>Only </a:t>
            </a:r>
            <a:r>
              <a:rPr lang="de-DE" dirty="0" err="1"/>
              <a:t>natural</a:t>
            </a:r>
            <a:r>
              <a:rPr lang="de-DE" dirty="0"/>
              <a:t> </a:t>
            </a:r>
            <a:r>
              <a:rPr lang="de-DE" dirty="0" err="1"/>
              <a:t>persons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listed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authors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plagiarism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IP </a:t>
            </a:r>
            <a:r>
              <a:rPr lang="de-DE" dirty="0" err="1"/>
              <a:t>violations</a:t>
            </a:r>
            <a:r>
              <a:rPr lang="de-DE" dirty="0"/>
              <a:t> </a:t>
            </a:r>
            <a:r>
              <a:rPr lang="de-DE" dirty="0" err="1"/>
              <a:t>permitted</a:t>
            </a:r>
            <a:endParaRPr lang="de-DE" dirty="0"/>
          </a:p>
          <a:p>
            <a:r>
              <a:rPr lang="de-DE" dirty="0"/>
              <a:t>AI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prohibited</a:t>
            </a:r>
            <a:r>
              <a:rPr lang="de-DE" dirty="0"/>
              <a:t> in </a:t>
            </a:r>
            <a:r>
              <a:rPr lang="de-DE" dirty="0" err="1"/>
              <a:t>peer</a:t>
            </a:r>
            <a:r>
              <a:rPr lang="de-DE" dirty="0"/>
              <a:t> review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confidentiality</a:t>
            </a:r>
            <a:endParaRPr lang="de-DE" dirty="0"/>
          </a:p>
          <a:p>
            <a:pPr>
              <a:spcBef>
                <a:spcPts val="1200"/>
              </a:spcBef>
            </a:pPr>
            <a:r>
              <a:rPr lang="de-DE" b="1" dirty="0">
                <a:solidFill>
                  <a:schemeClr val="tx2"/>
                </a:solidFill>
              </a:rPr>
              <a:t>Source: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DFG </a:t>
            </a:r>
            <a:r>
              <a:rPr lang="de-DE" dirty="0" err="1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guidelines</a:t>
            </a:r>
            <a:r>
              <a:rPr lang="de-DE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on generative AI</a:t>
            </a:r>
            <a:endParaRPr lang="de-DE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562D25-AD36-3656-2B8F-B627E365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LLM </a:t>
            </a:r>
            <a:r>
              <a:rPr lang="de-DE" dirty="0" err="1"/>
              <a:t>Usage</a:t>
            </a:r>
            <a:r>
              <a:rPr lang="de-DE" dirty="0"/>
              <a:t> Guidelines</a:t>
            </a:r>
          </a:p>
        </p:txBody>
      </p:sp>
      <p:pic>
        <p:nvPicPr>
          <p:cNvPr id="7" name="Inhaltsplatzhalter 6" descr="Künstliche Intelligenz Silhouette">
            <a:extLst>
              <a:ext uri="{FF2B5EF4-FFF2-40B4-BE49-F238E27FC236}">
                <a16:creationId xmlns:a16="http://schemas.microsoft.com/office/drawing/2014/main" id="{BFACC6BB-D3BD-6DCB-92CD-F7C68E70865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1863" y="1129228"/>
            <a:ext cx="914400" cy="914400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B8D420-1924-2D95-02CD-B8CCCD42BE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Grafik 8" descr="Häkchen Silhouette">
            <a:extLst>
              <a:ext uri="{FF2B5EF4-FFF2-40B4-BE49-F238E27FC236}">
                <a16:creationId xmlns:a16="http://schemas.microsoft.com/office/drawing/2014/main" id="{5CB9C212-05D0-98ED-4320-1B90D6F5E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863" y="23318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3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68124C4-D803-AF2F-6958-03B2D0A9D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1015200"/>
            <a:ext cx="11520000" cy="4713572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F9EF8A-20A7-BE29-CED7-194FF0DE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(</a:t>
            </a:r>
            <a:r>
              <a:rPr lang="de-DE" dirty="0" err="1"/>
              <a:t>Idealized</a:t>
            </a:r>
            <a:r>
              <a:rPr lang="de-DE" dirty="0"/>
              <a:t>) Writing </a:t>
            </a:r>
            <a:r>
              <a:rPr lang="de-DE" dirty="0" err="1"/>
              <a:t>Procedure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A7612C-26E3-6EE6-9C3E-9B972FFA0C2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FF27E5A-02BB-DE20-FDFB-D28C800B82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177825A0-0FB4-EA95-DA42-D2132D3857B3}"/>
              </a:ext>
            </a:extLst>
          </p:cNvPr>
          <p:cNvSpPr/>
          <p:nvPr/>
        </p:nvSpPr>
        <p:spPr>
          <a:xfrm>
            <a:off x="334800" y="3105000"/>
            <a:ext cx="1800000" cy="648000"/>
          </a:xfrm>
          <a:prstGeom prst="roundRect">
            <a:avLst/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„</a:t>
            </a:r>
            <a:r>
              <a:rPr lang="de-DE" dirty="0" err="1">
                <a:solidFill>
                  <a:schemeClr val="tx1"/>
                </a:solidFill>
              </a:rPr>
              <a:t>Finished</a:t>
            </a:r>
            <a:r>
              <a:rPr lang="de-DE" dirty="0">
                <a:solidFill>
                  <a:schemeClr val="tx1"/>
                </a:solidFill>
              </a:rPr>
              <a:t>“ Research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CA8E03F-1855-E601-93F9-C6D3B2F39750}"/>
              </a:ext>
            </a:extLst>
          </p:cNvPr>
          <p:cNvSpPr/>
          <p:nvPr/>
        </p:nvSpPr>
        <p:spPr>
          <a:xfrm>
            <a:off x="2764800" y="3105000"/>
            <a:ext cx="1800000" cy="648000"/>
          </a:xfrm>
          <a:prstGeom prst="roundRect">
            <a:avLst/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Structure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overall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paper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C4289A7-C3E5-9CCE-41A7-D62AB4F7B3DD}"/>
              </a:ext>
            </a:extLst>
          </p:cNvPr>
          <p:cNvSpPr/>
          <p:nvPr/>
        </p:nvSpPr>
        <p:spPr>
          <a:xfrm>
            <a:off x="5194800" y="3105000"/>
            <a:ext cx="1800000" cy="648000"/>
          </a:xfrm>
          <a:prstGeom prst="roundRect">
            <a:avLst/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Structure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sections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1B5FEE2B-A282-B32C-9277-EBE53A33212E}"/>
              </a:ext>
            </a:extLst>
          </p:cNvPr>
          <p:cNvSpPr/>
          <p:nvPr/>
        </p:nvSpPr>
        <p:spPr>
          <a:xfrm>
            <a:off x="7624800" y="3105000"/>
            <a:ext cx="1800000" cy="648000"/>
          </a:xfrm>
          <a:prstGeom prst="roundRect">
            <a:avLst/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Write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sections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50398DE7-AE2D-F4AB-55D6-3BB01805220D}"/>
              </a:ext>
            </a:extLst>
          </p:cNvPr>
          <p:cNvSpPr/>
          <p:nvPr/>
        </p:nvSpPr>
        <p:spPr>
          <a:xfrm>
            <a:off x="10054800" y="3105000"/>
            <a:ext cx="1800000" cy="648000"/>
          </a:xfrm>
          <a:prstGeom prst="roundRect">
            <a:avLst/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Final Touches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9EA5D81-5826-AB3D-8C5F-3C9B498D864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34800" y="3429000"/>
            <a:ext cx="6300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B9EEB42-0A5E-F3A3-B054-7BAE5204BD2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564800" y="3429000"/>
            <a:ext cx="6300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FE30EB7-078A-ADC1-6982-9E7E680BAC0B}"/>
              </a:ext>
            </a:extLst>
          </p:cNvPr>
          <p:cNvCxnSpPr>
            <a:cxnSpLocks/>
          </p:cNvCxnSpPr>
          <p:nvPr/>
        </p:nvCxnSpPr>
        <p:spPr>
          <a:xfrm>
            <a:off x="6994800" y="3429000"/>
            <a:ext cx="6300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2E191B-A742-AA27-B421-C839EB790C2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9424800" y="3429000"/>
            <a:ext cx="6300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bgerundetes Rechteck 29">
            <a:extLst>
              <a:ext uri="{FF2B5EF4-FFF2-40B4-BE49-F238E27FC236}">
                <a16:creationId xmlns:a16="http://schemas.microsoft.com/office/drawing/2014/main" id="{1FFEFC5D-E71B-2BE3-BA02-44799310B614}"/>
              </a:ext>
            </a:extLst>
          </p:cNvPr>
          <p:cNvSpPr/>
          <p:nvPr/>
        </p:nvSpPr>
        <p:spPr>
          <a:xfrm>
            <a:off x="10054800" y="1976416"/>
            <a:ext cx="1800000" cy="648000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Peer Review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C734BF7-7350-4C28-5CB4-C7B9AE17F6E9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0954800" y="2624416"/>
            <a:ext cx="0" cy="48058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>
            <a:extLst>
              <a:ext uri="{FF2B5EF4-FFF2-40B4-BE49-F238E27FC236}">
                <a16:creationId xmlns:a16="http://schemas.microsoft.com/office/drawing/2014/main" id="{2FFDE7ED-0B16-5EC4-F4B2-959B9C262C87}"/>
              </a:ext>
            </a:extLst>
          </p:cNvPr>
          <p:cNvCxnSpPr>
            <a:cxnSpLocks/>
            <a:stCxn id="30" idx="1"/>
            <a:endCxn id="7" idx="0"/>
          </p:cNvCxnSpPr>
          <p:nvPr/>
        </p:nvCxnSpPr>
        <p:spPr>
          <a:xfrm rot="10800000" flipV="1">
            <a:off x="3664800" y="2300416"/>
            <a:ext cx="6390000" cy="804584"/>
          </a:xfrm>
          <a:prstGeom prst="bentConnector2">
            <a:avLst/>
          </a:prstGeom>
          <a:ln w="25400">
            <a:solidFill>
              <a:schemeClr val="bg1">
                <a:lumMod val="7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35">
            <a:extLst>
              <a:ext uri="{FF2B5EF4-FFF2-40B4-BE49-F238E27FC236}">
                <a16:creationId xmlns:a16="http://schemas.microsoft.com/office/drawing/2014/main" id="{DAA90E96-FEDA-9DBB-3D28-5A830753E45E}"/>
              </a:ext>
            </a:extLst>
          </p:cNvPr>
          <p:cNvCxnSpPr>
            <a:cxnSpLocks/>
            <a:stCxn id="30" idx="1"/>
            <a:endCxn id="8" idx="0"/>
          </p:cNvCxnSpPr>
          <p:nvPr/>
        </p:nvCxnSpPr>
        <p:spPr>
          <a:xfrm rot="10800000" flipV="1">
            <a:off x="6094800" y="2300416"/>
            <a:ext cx="3960000" cy="804584"/>
          </a:xfrm>
          <a:prstGeom prst="bentConnector2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2C4A5E63-A2E8-DF61-A73E-0EC13EF35926}"/>
              </a:ext>
            </a:extLst>
          </p:cNvPr>
          <p:cNvCxnSpPr>
            <a:stCxn id="30" idx="1"/>
            <a:endCxn id="9" idx="0"/>
          </p:cNvCxnSpPr>
          <p:nvPr/>
        </p:nvCxnSpPr>
        <p:spPr>
          <a:xfrm rot="10800000" flipV="1">
            <a:off x="8524800" y="2300416"/>
            <a:ext cx="1530000" cy="804584"/>
          </a:xfrm>
          <a:prstGeom prst="bentConnector2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79FF90A5-E3EE-49F9-8E57-9598DCC857CA}"/>
              </a:ext>
            </a:extLst>
          </p:cNvPr>
          <p:cNvGrpSpPr/>
          <p:nvPr/>
        </p:nvGrpSpPr>
        <p:grpSpPr>
          <a:xfrm>
            <a:off x="5076947" y="3963068"/>
            <a:ext cx="2038106" cy="1781093"/>
            <a:chOff x="4360485" y="2612281"/>
            <a:chExt cx="2038106" cy="1781093"/>
          </a:xfrm>
        </p:grpSpPr>
        <p:sp>
          <p:nvSpPr>
            <p:cNvPr id="43" name="Ring 42">
              <a:extLst>
                <a:ext uri="{FF2B5EF4-FFF2-40B4-BE49-F238E27FC236}">
                  <a16:creationId xmlns:a16="http://schemas.microsoft.com/office/drawing/2014/main" id="{036DF47A-35E9-A3E3-AF97-DF1E0FB83155}"/>
                </a:ext>
              </a:extLst>
            </p:cNvPr>
            <p:cNvSpPr/>
            <p:nvPr/>
          </p:nvSpPr>
          <p:spPr>
            <a:xfrm>
              <a:off x="4624532" y="2612281"/>
              <a:ext cx="1774059" cy="1774058"/>
            </a:xfrm>
            <a:prstGeom prst="donut">
              <a:avLst>
                <a:gd name="adj" fmla="val 17600"/>
              </a:avLst>
            </a:prstGeom>
            <a:solidFill>
              <a:schemeClr val="bg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0CA0C648-E9D0-3F40-6115-1248A3C7A9F0}"/>
                </a:ext>
              </a:extLst>
            </p:cNvPr>
            <p:cNvSpPr/>
            <p:nvPr/>
          </p:nvSpPr>
          <p:spPr>
            <a:xfrm>
              <a:off x="4624533" y="3502183"/>
              <a:ext cx="891191" cy="89119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45" name="Rechtwinkliges Dreieck 44">
              <a:extLst>
                <a:ext uri="{FF2B5EF4-FFF2-40B4-BE49-F238E27FC236}">
                  <a16:creationId xmlns:a16="http://schemas.microsoft.com/office/drawing/2014/main" id="{01FFDFD2-83AE-041A-E69A-FB390E0D9617}"/>
                </a:ext>
              </a:extLst>
            </p:cNvPr>
            <p:cNvSpPr/>
            <p:nvPr/>
          </p:nvSpPr>
          <p:spPr>
            <a:xfrm rot="18900000">
              <a:off x="4462940" y="3182660"/>
              <a:ext cx="632054" cy="636118"/>
            </a:xfrm>
            <a:prstGeom prst="rtTriangle">
              <a:avLst/>
            </a:prstGeom>
            <a:solidFill>
              <a:schemeClr val="bg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C8E72E80-5FF1-2A58-175E-03DA20C5E93F}"/>
                </a:ext>
              </a:extLst>
            </p:cNvPr>
            <p:cNvSpPr/>
            <p:nvPr/>
          </p:nvSpPr>
          <p:spPr>
            <a:xfrm>
              <a:off x="4360485" y="4074252"/>
              <a:ext cx="1155239" cy="3120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057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20586B7-F24E-460C-FEB2-FFA2B962870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The Common Thread</a:t>
            </a:r>
          </a:p>
          <a:p>
            <a:r>
              <a:rPr lang="de-DE" dirty="0"/>
              <a:t>Paper ≠ </a:t>
            </a:r>
            <a:r>
              <a:rPr lang="de-DE" dirty="0" err="1"/>
              <a:t>chronological</a:t>
            </a:r>
            <a:r>
              <a:rPr lang="de-DE" dirty="0"/>
              <a:t> </a:t>
            </a:r>
            <a:r>
              <a:rPr lang="de-DE" dirty="0" err="1"/>
              <a:t>story</a:t>
            </a:r>
            <a:endParaRPr lang="de-DE" dirty="0"/>
          </a:p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novel</a:t>
            </a:r>
            <a:r>
              <a:rPr lang="de-DE" dirty="0"/>
              <a:t> </a:t>
            </a:r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(1)</a:t>
            </a:r>
          </a:p>
          <a:p>
            <a:pPr lvl="1"/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= </a:t>
            </a:r>
            <a:r>
              <a:rPr lang="de-DE" dirty="0" err="1"/>
              <a:t>protagonist</a:t>
            </a:r>
            <a:endParaRPr lang="de-DE" dirty="0"/>
          </a:p>
          <a:p>
            <a:pPr lvl="1"/>
            <a:r>
              <a:rPr lang="de-DE" dirty="0"/>
              <a:t>Background / </a:t>
            </a:r>
            <a:r>
              <a:rPr lang="de-DE" dirty="0" err="1"/>
              <a:t>Related</a:t>
            </a:r>
            <a:r>
              <a:rPr lang="de-DE" dirty="0"/>
              <a:t> Work = </a:t>
            </a:r>
            <a:r>
              <a:rPr lang="de-DE" dirty="0" err="1"/>
              <a:t>setting</a:t>
            </a:r>
            <a:endParaRPr lang="de-DE" dirty="0"/>
          </a:p>
          <a:p>
            <a:pPr lvl="1"/>
            <a:r>
              <a:rPr lang="de-DE" dirty="0"/>
              <a:t>Problem /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gap</a:t>
            </a:r>
            <a:r>
              <a:rPr lang="de-DE" dirty="0"/>
              <a:t> = </a:t>
            </a:r>
            <a:r>
              <a:rPr lang="de-DE" dirty="0" err="1"/>
              <a:t>tension</a:t>
            </a:r>
            <a:endParaRPr lang="de-DE" dirty="0"/>
          </a:p>
          <a:p>
            <a:pPr lvl="1"/>
            <a:r>
              <a:rPr lang="de-DE" dirty="0"/>
              <a:t>Approach &amp; </a:t>
            </a:r>
            <a:r>
              <a:rPr lang="de-DE" dirty="0" err="1"/>
              <a:t>results</a:t>
            </a:r>
            <a:r>
              <a:rPr lang="de-DE" dirty="0"/>
              <a:t> = </a:t>
            </a:r>
            <a:r>
              <a:rPr lang="de-DE" dirty="0" err="1"/>
              <a:t>climax</a:t>
            </a:r>
            <a:endParaRPr lang="de-DE" dirty="0"/>
          </a:p>
          <a:p>
            <a:pPr lvl="1"/>
            <a:r>
              <a:rPr lang="de-DE" dirty="0" err="1"/>
              <a:t>Implications</a:t>
            </a:r>
            <a:r>
              <a:rPr lang="de-DE" dirty="0"/>
              <a:t> = </a:t>
            </a:r>
            <a:r>
              <a:rPr lang="de-DE" dirty="0" err="1"/>
              <a:t>resolution</a:t>
            </a:r>
            <a:endParaRPr lang="de-DE" dirty="0"/>
          </a:p>
          <a:p>
            <a:r>
              <a:rPr lang="de-DE" dirty="0" err="1"/>
              <a:t>Maintain</a:t>
            </a:r>
            <a:r>
              <a:rPr lang="de-DE" dirty="0"/>
              <a:t> </a:t>
            </a:r>
            <a:r>
              <a:rPr lang="de-DE" dirty="0" err="1"/>
              <a:t>clarity</a:t>
            </a:r>
            <a:r>
              <a:rPr lang="de-DE" dirty="0"/>
              <a:t>,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leave</a:t>
            </a:r>
            <a:r>
              <a:rPr lang="de-DE" dirty="0"/>
              <a:t> out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parts</a:t>
            </a:r>
            <a:endParaRPr lang="de-DE" dirty="0"/>
          </a:p>
          <a:p>
            <a:pPr marL="0" indent="0">
              <a:spcBef>
                <a:spcPts val="1200"/>
              </a:spcBef>
              <a:buNone/>
            </a:pPr>
            <a:r>
              <a:rPr lang="de-DE" b="1" dirty="0">
                <a:solidFill>
                  <a:schemeClr val="tx2"/>
                </a:solidFill>
              </a:rPr>
              <a:t>PRISMA</a:t>
            </a:r>
          </a:p>
          <a:p>
            <a:r>
              <a:rPr lang="de-DE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Reporting </a:t>
            </a:r>
            <a:r>
              <a:rPr lang="de-DE" dirty="0" err="1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guideline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r>
              <a:rPr lang="de-DE" dirty="0"/>
              <a:t> &amp; meta-</a:t>
            </a:r>
            <a:r>
              <a:rPr lang="de-DE" dirty="0" err="1"/>
              <a:t>analyses</a:t>
            </a:r>
            <a:endParaRPr lang="de-DE" dirty="0"/>
          </a:p>
          <a:p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transparency</a:t>
            </a:r>
            <a:r>
              <a:rPr lang="de-DE" dirty="0"/>
              <a:t> and </a:t>
            </a:r>
            <a:r>
              <a:rPr lang="de-DE" dirty="0" err="1"/>
              <a:t>completeness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AB139C-B0BB-A8A5-195E-9B17284C0B6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>
                <a:solidFill>
                  <a:schemeClr val="tx2"/>
                </a:solidFill>
              </a:rPr>
              <a:t>Structure</a:t>
            </a:r>
            <a:endParaRPr lang="de-DE" b="1" dirty="0">
              <a:solidFill>
                <a:schemeClr val="tx2"/>
              </a:solidFill>
            </a:endParaRPr>
          </a:p>
          <a:p>
            <a:r>
              <a:rPr lang="de-DE" dirty="0" err="1"/>
              <a:t>Prerequisites</a:t>
            </a:r>
            <a:r>
              <a:rPr lang="de-DE" dirty="0"/>
              <a:t> </a:t>
            </a:r>
            <a:r>
              <a:rPr lang="de-DE" dirty="0" err="1"/>
              <a:t>finished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/ </a:t>
            </a:r>
            <a:r>
              <a:rPr lang="de-DE" dirty="0" err="1"/>
              <a:t>content</a:t>
            </a:r>
            <a:endParaRPr lang="de-DE" dirty="0"/>
          </a:p>
          <a:p>
            <a:r>
              <a:rPr lang="de-DE" dirty="0" err="1"/>
              <a:t>Organize</a:t>
            </a:r>
            <a:r>
              <a:rPr lang="de-DE" dirty="0"/>
              <a:t> </a:t>
            </a:r>
            <a:r>
              <a:rPr lang="de-DE" dirty="0" err="1"/>
              <a:t>logically</a:t>
            </a:r>
            <a:r>
              <a:rPr lang="de-DE" dirty="0"/>
              <a:t>, not </a:t>
            </a:r>
            <a:r>
              <a:rPr lang="de-DE" dirty="0" err="1"/>
              <a:t>chronologically</a:t>
            </a:r>
            <a:endParaRPr lang="de-DE" dirty="0"/>
          </a:p>
          <a:p>
            <a:r>
              <a:rPr lang="de-DE" dirty="0" err="1"/>
              <a:t>Adapt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</a:t>
            </a:r>
            <a:endParaRPr lang="de-DE" dirty="0"/>
          </a:p>
          <a:p>
            <a:pPr marL="0" indent="0">
              <a:spcBef>
                <a:spcPts val="1200"/>
              </a:spcBef>
              <a:buNone/>
            </a:pPr>
            <a:r>
              <a:rPr lang="de-DE" b="1" dirty="0" err="1">
                <a:solidFill>
                  <a:schemeClr val="tx2"/>
                </a:solidFill>
              </a:rPr>
              <a:t>Sections</a:t>
            </a:r>
            <a:endParaRPr lang="de-DE" b="1" dirty="0">
              <a:solidFill>
                <a:schemeClr val="tx2"/>
              </a:solidFill>
            </a:endParaRPr>
          </a:p>
          <a:p>
            <a:r>
              <a:rPr lang="de-DE" dirty="0"/>
              <a:t>Abstract</a:t>
            </a:r>
          </a:p>
          <a:p>
            <a:r>
              <a:rPr lang="de-DE" dirty="0" err="1"/>
              <a:t>Introduction</a:t>
            </a:r>
            <a:endParaRPr lang="de-DE" dirty="0"/>
          </a:p>
          <a:p>
            <a:r>
              <a:rPr lang="de-DE" i="1" dirty="0"/>
              <a:t>Background</a:t>
            </a:r>
          </a:p>
          <a:p>
            <a:r>
              <a:rPr lang="de-DE" dirty="0" err="1"/>
              <a:t>Related</a:t>
            </a:r>
            <a:r>
              <a:rPr lang="de-DE" dirty="0"/>
              <a:t> Work</a:t>
            </a:r>
          </a:p>
          <a:p>
            <a:r>
              <a:rPr lang="de-DE" i="1" dirty="0"/>
              <a:t>Main </a:t>
            </a:r>
            <a:r>
              <a:rPr lang="de-DE" i="1" dirty="0" err="1"/>
              <a:t>Contribution</a:t>
            </a:r>
            <a:endParaRPr lang="de-DE" i="1" dirty="0"/>
          </a:p>
          <a:p>
            <a:r>
              <a:rPr lang="de-DE" dirty="0"/>
              <a:t>Future Work</a:t>
            </a:r>
          </a:p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F0D3FE-2ECF-2C1E-047C-F12AAE9B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 </a:t>
            </a:r>
            <a:r>
              <a:rPr lang="de-DE" dirty="0" err="1"/>
              <a:t>Structure</a:t>
            </a:r>
            <a:r>
              <a:rPr lang="de-DE" dirty="0"/>
              <a:t> &amp; Narrative </a:t>
            </a:r>
            <a:r>
              <a:rPr lang="de-DE" dirty="0" err="1"/>
              <a:t>Logic</a:t>
            </a:r>
            <a:endParaRPr lang="de-DE" dirty="0"/>
          </a:p>
        </p:txBody>
      </p:sp>
      <p:pic>
        <p:nvPicPr>
          <p:cNvPr id="11" name="Inhaltsplatzhalter 10" descr="Seilknoten Silhouette">
            <a:extLst>
              <a:ext uri="{FF2B5EF4-FFF2-40B4-BE49-F238E27FC236}">
                <a16:creationId xmlns:a16="http://schemas.microsoft.com/office/drawing/2014/main" id="{4D6D6C8F-958D-859A-510A-3DD74C1FB6F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2146" y="1011935"/>
            <a:ext cx="720000" cy="720000"/>
          </a:xfr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A28D4D5-DC4C-7459-C879-CC2EE665CE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7155" y="5759550"/>
            <a:ext cx="6129883" cy="153888"/>
          </a:xfrm>
        </p:spPr>
        <p:txBody>
          <a:bodyPr/>
          <a:lstStyle/>
          <a:p>
            <a:r>
              <a:rPr lang="de-DE" dirty="0"/>
              <a:t>Anna Clemens: https://</a:t>
            </a:r>
            <a:r>
              <a:rPr lang="de-DE" dirty="0" err="1"/>
              <a:t>www.socialsciencespace.com</a:t>
            </a:r>
            <a:r>
              <a:rPr lang="de-DE" dirty="0"/>
              <a:t>/2018/06/</a:t>
            </a:r>
            <a:r>
              <a:rPr lang="de-DE" dirty="0" err="1"/>
              <a:t>how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tell</a:t>
            </a:r>
            <a:r>
              <a:rPr lang="de-DE" dirty="0"/>
              <a:t>-a-story-in-</a:t>
            </a:r>
            <a:r>
              <a:rPr lang="de-DE" dirty="0" err="1"/>
              <a:t>your</a:t>
            </a:r>
            <a:r>
              <a:rPr lang="de-DE" dirty="0"/>
              <a:t>-research-paper/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8D5A1C2-BE0B-AB78-A8AF-14785A826265}"/>
              </a:ext>
            </a:extLst>
          </p:cNvPr>
          <p:cNvSpPr txBox="1"/>
          <p:nvPr/>
        </p:nvSpPr>
        <p:spPr>
          <a:xfrm>
            <a:off x="2881324" y="3450400"/>
            <a:ext cx="135646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provide</a:t>
            </a:r>
            <a:endParaRPr lang="de-DE" i="1" dirty="0">
              <a:solidFill>
                <a:schemeClr val="tx2"/>
              </a:solidFill>
              <a:latin typeface="Trebuchet MS" panose="020B0703020202090204" pitchFamily="34" charset="0"/>
            </a:endParaRPr>
          </a:p>
          <a:p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meaningful</a:t>
            </a:r>
            <a:endParaRPr lang="de-DE" i="1" dirty="0">
              <a:solidFill>
                <a:schemeClr val="tx2"/>
              </a:solidFill>
              <a:latin typeface="Trebuchet MS" panose="020B0703020202090204" pitchFamily="34" charset="0"/>
            </a:endParaRPr>
          </a:p>
          <a:p>
            <a:r>
              <a:rPr lang="de-DE" i="1" dirty="0" err="1">
                <a:solidFill>
                  <a:schemeClr val="tx2"/>
                </a:solidFill>
                <a:latin typeface="Trebuchet MS" panose="020B0703020202090204" pitchFamily="34" charset="0"/>
              </a:rPr>
              <a:t>titles</a:t>
            </a:r>
            <a:endParaRPr lang="de-DE" i="1" dirty="0">
              <a:solidFill>
                <a:schemeClr val="tx2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Bogen 8">
            <a:extLst>
              <a:ext uri="{FF2B5EF4-FFF2-40B4-BE49-F238E27FC236}">
                <a16:creationId xmlns:a16="http://schemas.microsoft.com/office/drawing/2014/main" id="{B9888371-A484-FDDD-2D8F-365ECA9B5FCB}"/>
              </a:ext>
            </a:extLst>
          </p:cNvPr>
          <p:cNvSpPr/>
          <p:nvPr/>
        </p:nvSpPr>
        <p:spPr>
          <a:xfrm>
            <a:off x="1705231" y="3658615"/>
            <a:ext cx="1315232" cy="253450"/>
          </a:xfrm>
          <a:prstGeom prst="arc">
            <a:avLst>
              <a:gd name="adj1" fmla="val 11303992"/>
              <a:gd name="adj2" fmla="val 21171361"/>
            </a:avLst>
          </a:prstGeom>
          <a:ln w="25400">
            <a:solidFill>
              <a:schemeClr val="tx2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ogen 9">
            <a:extLst>
              <a:ext uri="{FF2B5EF4-FFF2-40B4-BE49-F238E27FC236}">
                <a16:creationId xmlns:a16="http://schemas.microsoft.com/office/drawing/2014/main" id="{B07F17D0-FC88-EAA3-78E5-DF872F136FEE}"/>
              </a:ext>
            </a:extLst>
          </p:cNvPr>
          <p:cNvSpPr/>
          <p:nvPr/>
        </p:nvSpPr>
        <p:spPr>
          <a:xfrm flipV="1">
            <a:off x="1947412" y="4120280"/>
            <a:ext cx="1315232" cy="373199"/>
          </a:xfrm>
          <a:prstGeom prst="arc">
            <a:avLst>
              <a:gd name="adj1" fmla="val 13549924"/>
              <a:gd name="adj2" fmla="val 20998240"/>
            </a:avLst>
          </a:prstGeom>
          <a:ln w="25400">
            <a:solidFill>
              <a:schemeClr val="tx2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Grafik 12" descr="Symbol für Hamburger-Menü Silhouette">
            <a:extLst>
              <a:ext uri="{FF2B5EF4-FFF2-40B4-BE49-F238E27FC236}">
                <a16:creationId xmlns:a16="http://schemas.microsoft.com/office/drawing/2014/main" id="{72E01260-5667-7FFA-3137-08E0ACA69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1311" y="2523274"/>
            <a:ext cx="720000" cy="720000"/>
          </a:xfrm>
          <a:prstGeom prst="rect">
            <a:avLst/>
          </a:prstGeom>
        </p:spPr>
      </p:pic>
      <p:pic>
        <p:nvPicPr>
          <p:cNvPr id="17" name="Grafik 16" descr="Netzplandiagramm Silhouette">
            <a:extLst>
              <a:ext uri="{FF2B5EF4-FFF2-40B4-BE49-F238E27FC236}">
                <a16:creationId xmlns:a16="http://schemas.microsoft.com/office/drawing/2014/main" id="{D6DC55B0-CF61-9A6C-4D8A-3ACBA98E17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1311" y="1011935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2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8A9E1DF-83DC-08EC-3B26-4ABAC95B49C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1662A3-8134-098F-9BDB-AD5072CD007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Abstract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C90A719-0C94-8E9A-44F8-5951B7D0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 </a:t>
            </a:r>
            <a:r>
              <a:rPr lang="de-DE" dirty="0" err="1"/>
              <a:t>Structure</a:t>
            </a:r>
            <a:endParaRPr lang="de-DE" dirty="0"/>
          </a:p>
        </p:txBody>
      </p:sp>
      <p:pic>
        <p:nvPicPr>
          <p:cNvPr id="10" name="Inhaltsplatzhalter 9" descr="Post-it-Notizen 3 Silhouette">
            <a:extLst>
              <a:ext uri="{FF2B5EF4-FFF2-40B4-BE49-F238E27FC236}">
                <a16:creationId xmlns:a16="http://schemas.microsoft.com/office/drawing/2014/main" id="{C045B052-2B56-D03F-C4D6-E0483F0BFD6A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4800" y="1015200"/>
            <a:ext cx="720000" cy="720000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1F18025-B1FF-F6BB-E3AD-70333988E09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2"/>
                </a:solidFill>
              </a:rPr>
              <a:t>Goal: </a:t>
            </a:r>
            <a:r>
              <a:rPr lang="de-DE" dirty="0"/>
              <a:t>Readers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decide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to</a:t>
            </a:r>
            <a:br>
              <a:rPr lang="de-DE" dirty="0"/>
            </a:br>
            <a:r>
              <a:rPr lang="de-DE" dirty="0" err="1"/>
              <a:t>keep</a:t>
            </a:r>
            <a:r>
              <a:rPr lang="de-DE" dirty="0"/>
              <a:t> </a:t>
            </a:r>
            <a:r>
              <a:rPr lang="de-DE" dirty="0" err="1"/>
              <a:t>reading</a:t>
            </a:r>
            <a:endParaRPr lang="de-DE" i="1" dirty="0"/>
          </a:p>
          <a:p>
            <a:pPr>
              <a:spcBef>
                <a:spcPts val="1200"/>
              </a:spcBef>
            </a:pPr>
            <a:r>
              <a:rPr lang="de-DE" i="1" dirty="0" err="1"/>
              <a:t>What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context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this</a:t>
            </a:r>
            <a:r>
              <a:rPr lang="de-DE" i="1" dirty="0"/>
              <a:t> </a:t>
            </a:r>
            <a:r>
              <a:rPr lang="de-DE" i="1" dirty="0" err="1"/>
              <a:t>work</a:t>
            </a:r>
            <a:r>
              <a:rPr lang="de-DE" i="1" dirty="0"/>
              <a:t>?</a:t>
            </a:r>
          </a:p>
          <a:p>
            <a:r>
              <a:rPr lang="de-DE" i="1" dirty="0" err="1"/>
              <a:t>What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motivation</a:t>
            </a:r>
            <a:r>
              <a:rPr lang="de-DE" i="1" dirty="0"/>
              <a:t>?</a:t>
            </a:r>
          </a:p>
          <a:p>
            <a:r>
              <a:rPr lang="de-DE" i="1" dirty="0"/>
              <a:t>Why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this</a:t>
            </a:r>
            <a:r>
              <a:rPr lang="de-DE" i="1" dirty="0"/>
              <a:t> </a:t>
            </a:r>
            <a:r>
              <a:rPr lang="de-DE" i="1" dirty="0" err="1"/>
              <a:t>topic</a:t>
            </a:r>
            <a:r>
              <a:rPr lang="de-DE" i="1" dirty="0"/>
              <a:t> </a:t>
            </a:r>
            <a:r>
              <a:rPr lang="de-DE" i="1" dirty="0" err="1"/>
              <a:t>interesting</a:t>
            </a:r>
            <a:r>
              <a:rPr lang="de-DE" i="1" dirty="0"/>
              <a:t>?</a:t>
            </a:r>
          </a:p>
          <a:p>
            <a:r>
              <a:rPr lang="de-DE" i="1" dirty="0" err="1"/>
              <a:t>What</a:t>
            </a:r>
            <a:r>
              <a:rPr lang="de-DE" i="1" dirty="0"/>
              <a:t> </a:t>
            </a:r>
            <a:r>
              <a:rPr lang="de-DE" i="1" dirty="0" err="1"/>
              <a:t>are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results</a:t>
            </a:r>
            <a:r>
              <a:rPr lang="de-DE" i="1" dirty="0"/>
              <a:t>?</a:t>
            </a:r>
          </a:p>
          <a:p>
            <a:r>
              <a:rPr lang="de-DE" i="1" dirty="0"/>
              <a:t>How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paper</a:t>
            </a:r>
            <a:r>
              <a:rPr lang="de-DE" i="1" dirty="0"/>
              <a:t> </a:t>
            </a:r>
            <a:r>
              <a:rPr lang="de-DE" i="1" dirty="0" err="1"/>
              <a:t>structured</a:t>
            </a:r>
            <a:r>
              <a:rPr lang="de-DE" i="1" dirty="0"/>
              <a:t>? (</a:t>
            </a:r>
            <a:r>
              <a:rPr lang="de-DE" i="1" dirty="0" err="1"/>
              <a:t>only</a:t>
            </a:r>
            <a:r>
              <a:rPr lang="de-DE" i="1" dirty="0"/>
              <a:t> </a:t>
            </a:r>
            <a:r>
              <a:rPr lang="de-DE" i="1" dirty="0" err="1"/>
              <a:t>for</a:t>
            </a:r>
            <a:r>
              <a:rPr lang="de-DE" i="1" dirty="0"/>
              <a:t> </a:t>
            </a:r>
            <a:r>
              <a:rPr lang="de-DE" i="1" dirty="0" err="1"/>
              <a:t>longer</a:t>
            </a:r>
            <a:r>
              <a:rPr lang="de-DE" i="1" dirty="0"/>
              <a:t> </a:t>
            </a:r>
            <a:r>
              <a:rPr lang="de-DE" i="1" dirty="0" err="1"/>
              <a:t>papers</a:t>
            </a:r>
            <a:r>
              <a:rPr lang="de-DE" i="1" dirty="0"/>
              <a:t>)</a:t>
            </a:r>
          </a:p>
          <a:p>
            <a:pPr>
              <a:spcBef>
                <a:spcPts val="0"/>
              </a:spcBef>
            </a:pPr>
            <a:r>
              <a:rPr lang="de-DE" dirty="0"/>
              <a:t>Detail </a:t>
            </a:r>
            <a:r>
              <a:rPr lang="de-DE" dirty="0" err="1"/>
              <a:t>topic</a:t>
            </a:r>
            <a:r>
              <a:rPr lang="de-DE" dirty="0"/>
              <a:t>, </a:t>
            </a:r>
            <a:r>
              <a:rPr lang="de-DE" dirty="0" err="1"/>
              <a:t>problem</a:t>
            </a:r>
            <a:r>
              <a:rPr lang="de-DE" dirty="0"/>
              <a:t>, </a:t>
            </a:r>
            <a:r>
              <a:rPr lang="de-DE" dirty="0" err="1"/>
              <a:t>motivation</a:t>
            </a:r>
            <a:r>
              <a:rPr lang="de-DE" dirty="0"/>
              <a:t>, </a:t>
            </a:r>
            <a:r>
              <a:rPr lang="de-DE" dirty="0" err="1"/>
              <a:t>context</a:t>
            </a:r>
            <a:r>
              <a:rPr lang="de-DE" dirty="0"/>
              <a:t>, </a:t>
            </a:r>
            <a:r>
              <a:rPr lang="de-DE" dirty="0" err="1"/>
              <a:t>approach</a:t>
            </a:r>
            <a:r>
              <a:rPr lang="de-DE" dirty="0"/>
              <a:t> and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65929FA-CC95-6193-C073-22FDB282DBB5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2"/>
                </a:solidFill>
                <a:sym typeface="Wingdings" pitchFamily="2" charset="2"/>
              </a:rPr>
              <a:t>Goal: </a:t>
            </a:r>
            <a:r>
              <a:rPr lang="de-DE" dirty="0"/>
              <a:t>Readers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quickly</a:t>
            </a:r>
            <a:r>
              <a:rPr lang="de-DE" dirty="0"/>
              <a:t> </a:t>
            </a:r>
            <a:r>
              <a:rPr lang="de-DE" dirty="0" err="1"/>
              <a:t>assess</a:t>
            </a:r>
            <a:r>
              <a:rPr lang="de-DE" dirty="0"/>
              <a:t> </a:t>
            </a:r>
            <a:r>
              <a:rPr lang="de-DE" dirty="0" err="1"/>
              <a:t>whether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relevant</a:t>
            </a:r>
            <a:endParaRPr lang="de-DE" i="1" dirty="0"/>
          </a:p>
          <a:p>
            <a:pPr>
              <a:spcBef>
                <a:spcPts val="1200"/>
              </a:spcBef>
            </a:pPr>
            <a:r>
              <a:rPr lang="de-DE" i="1" dirty="0" err="1"/>
              <a:t>What's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topic</a:t>
            </a:r>
            <a:r>
              <a:rPr lang="de-DE" i="1" dirty="0"/>
              <a:t>?</a:t>
            </a:r>
          </a:p>
          <a:p>
            <a:r>
              <a:rPr lang="de-DE" i="1" dirty="0" err="1"/>
              <a:t>What</a:t>
            </a:r>
            <a:r>
              <a:rPr lang="de-DE" i="1" dirty="0"/>
              <a:t> </a:t>
            </a:r>
            <a:r>
              <a:rPr lang="de-DE" i="1" dirty="0" err="1"/>
              <a:t>has</a:t>
            </a:r>
            <a:r>
              <a:rPr lang="de-DE" i="1" dirty="0"/>
              <a:t> </a:t>
            </a:r>
            <a:r>
              <a:rPr lang="de-DE" i="1" dirty="0" err="1"/>
              <a:t>been</a:t>
            </a:r>
            <a:r>
              <a:rPr lang="de-DE" i="1" dirty="0"/>
              <a:t> </a:t>
            </a:r>
            <a:r>
              <a:rPr lang="de-DE" i="1" dirty="0" err="1"/>
              <a:t>done</a:t>
            </a:r>
            <a:r>
              <a:rPr lang="de-DE" i="1" dirty="0"/>
              <a:t>?</a:t>
            </a:r>
          </a:p>
          <a:p>
            <a:r>
              <a:rPr lang="de-DE" i="1" dirty="0" err="1"/>
              <a:t>What</a:t>
            </a:r>
            <a:r>
              <a:rPr lang="de-DE" i="1" dirty="0"/>
              <a:t> </a:t>
            </a:r>
            <a:r>
              <a:rPr lang="de-DE" i="1" dirty="0" err="1"/>
              <a:t>are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results</a:t>
            </a:r>
            <a:r>
              <a:rPr lang="de-DE" i="1" dirty="0"/>
              <a:t>?</a:t>
            </a:r>
            <a:endParaRPr lang="de-DE" dirty="0"/>
          </a:p>
          <a:p>
            <a:pPr>
              <a:spcBef>
                <a:spcPts val="0"/>
              </a:spcBef>
            </a:pPr>
            <a:r>
              <a:rPr lang="de-DE" dirty="0"/>
              <a:t>50 – 200 </a:t>
            </a:r>
            <a:r>
              <a:rPr lang="de-DE" dirty="0" err="1"/>
              <a:t>words</a:t>
            </a:r>
            <a:endParaRPr lang="de-DE" dirty="0"/>
          </a:p>
          <a:p>
            <a:r>
              <a:rPr lang="de-DE" dirty="0">
                <a:solidFill>
                  <a:schemeClr val="accent5"/>
                </a:solidFill>
              </a:rPr>
              <a:t>See </a:t>
            </a:r>
            <a:r>
              <a:rPr lang="de-DE" dirty="0" err="1">
                <a:solidFill>
                  <a:schemeClr val="accent5"/>
                </a:solidFill>
              </a:rPr>
              <a:t>abstract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manual</a:t>
            </a:r>
            <a:endParaRPr lang="de-DE" dirty="0">
              <a:solidFill>
                <a:schemeClr val="accent5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A41AE12-C8AA-49EC-9665-9FE7B83FF2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4" name="Grafik 13" descr="Wiedergabe Silhouette">
            <a:extLst>
              <a:ext uri="{FF2B5EF4-FFF2-40B4-BE49-F238E27FC236}">
                <a16:creationId xmlns:a16="http://schemas.microsoft.com/office/drawing/2014/main" id="{D95548DB-223F-BD97-2D5F-4AD8786E3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0421" y="10152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15A0-2C1A-BCBC-E632-62BF3295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F82BFE-1C9A-75E0-B7D9-DD23CB96946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51CD8E-64B4-B269-D706-C03200F0F61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4C366E0-4FAA-8641-2F01-4DF013DD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 </a:t>
            </a:r>
            <a:r>
              <a:rPr lang="de-DE" dirty="0" err="1"/>
              <a:t>Structure</a:t>
            </a:r>
            <a:endParaRPr lang="de-DE" dirty="0"/>
          </a:p>
        </p:txBody>
      </p:sp>
      <p:pic>
        <p:nvPicPr>
          <p:cNvPr id="10" name="Inhaltsplatzhalter 9" descr="Bücher Silhouette">
            <a:extLst>
              <a:ext uri="{FF2B5EF4-FFF2-40B4-BE49-F238E27FC236}">
                <a16:creationId xmlns:a16="http://schemas.microsoft.com/office/drawing/2014/main" id="{5E92150C-67EB-F5E9-BA2C-404B5E4D59B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0334" y="1015200"/>
            <a:ext cx="720000" cy="720000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3D6B3A-A21A-9050-4E26-F6FFECCCE562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2"/>
                </a:solidFill>
              </a:rPr>
              <a:t>Goal:</a:t>
            </a:r>
          </a:p>
          <a:p>
            <a:pPr lvl="1"/>
            <a:r>
              <a:rPr lang="de-DE" dirty="0"/>
              <a:t>Readers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research</a:t>
            </a:r>
            <a:endParaRPr lang="de-DE" dirty="0"/>
          </a:p>
          <a:p>
            <a:pPr lvl="1"/>
            <a:r>
              <a:rPr lang="de-DE" dirty="0"/>
              <a:t>Readers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contribution</a:t>
            </a:r>
            <a:endParaRPr lang="de-DE" dirty="0"/>
          </a:p>
          <a:p>
            <a:pPr>
              <a:spcBef>
                <a:spcPts val="1200"/>
              </a:spcBef>
            </a:pPr>
            <a:r>
              <a:rPr lang="de-DE" dirty="0"/>
              <a:t>Present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researchers</a:t>
            </a:r>
            <a:endParaRPr lang="de-DE" dirty="0"/>
          </a:p>
          <a:p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gaps</a:t>
            </a:r>
            <a:r>
              <a:rPr lang="de-DE" dirty="0"/>
              <a:t> and </a:t>
            </a:r>
            <a:r>
              <a:rPr lang="de-DE" dirty="0" err="1"/>
              <a:t>limitations</a:t>
            </a:r>
            <a:endParaRPr lang="de-DE" dirty="0"/>
          </a:p>
          <a:p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own </a:t>
            </a:r>
            <a:r>
              <a:rPr lang="de-DE" dirty="0" err="1"/>
              <a:t>work</a:t>
            </a:r>
            <a:endParaRPr lang="de-DE" dirty="0"/>
          </a:p>
          <a:p>
            <a:pPr lvl="1"/>
            <a:r>
              <a:rPr lang="de-DE" dirty="0" err="1"/>
              <a:t>Improvements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extensions</a:t>
            </a:r>
            <a:endParaRPr lang="de-DE" dirty="0"/>
          </a:p>
          <a:p>
            <a:pPr lvl="1"/>
            <a:r>
              <a:rPr lang="de-DE" dirty="0"/>
              <a:t>New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cases</a:t>
            </a:r>
            <a:endParaRPr lang="de-DE" dirty="0"/>
          </a:p>
          <a:p>
            <a:pPr lvl="1"/>
            <a:r>
              <a:rPr lang="de-DE" dirty="0"/>
              <a:t>Advantages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prior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length</a:t>
            </a:r>
            <a:endParaRPr lang="de-DE" dirty="0"/>
          </a:p>
          <a:p>
            <a:pPr lvl="1"/>
            <a:r>
              <a:rPr lang="de-DE" dirty="0" err="1"/>
              <a:t>Based</a:t>
            </a:r>
            <a:r>
              <a:rPr lang="de-DE" dirty="0"/>
              <a:t> on relevant </a:t>
            </a:r>
            <a:r>
              <a:rPr lang="de-DE" dirty="0" err="1"/>
              <a:t>literature</a:t>
            </a:r>
            <a:endParaRPr lang="de-DE" dirty="0"/>
          </a:p>
          <a:p>
            <a:pPr lvl="1"/>
            <a:r>
              <a:rPr lang="de-DE" dirty="0"/>
              <a:t>Focus on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contributions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C8EA82B-0932-FF68-85E8-400F1F14266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2"/>
                </a:solidFill>
              </a:rPr>
              <a:t>Goal:</a:t>
            </a:r>
          </a:p>
          <a:p>
            <a:pPr lvl="1"/>
            <a:r>
              <a:rPr lang="de-DE" dirty="0"/>
              <a:t>Readers </a:t>
            </a:r>
            <a:r>
              <a:rPr lang="de-DE" dirty="0" err="1"/>
              <a:t>can</a:t>
            </a:r>
            <a:r>
              <a:rPr lang="de-DE" dirty="0"/>
              <a:t> follow all </a:t>
            </a:r>
            <a:r>
              <a:rPr lang="de-DE" dirty="0" err="1"/>
              <a:t>content</a:t>
            </a:r>
            <a:endParaRPr lang="de-DE" dirty="0"/>
          </a:p>
          <a:p>
            <a:pPr lvl="1"/>
            <a:r>
              <a:rPr lang="de-DE" dirty="0"/>
              <a:t>Readers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endParaRPr lang="de-DE" dirty="0"/>
          </a:p>
          <a:p>
            <a:pPr>
              <a:spcBef>
                <a:spcPts val="1200"/>
              </a:spcBef>
            </a:pPr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prior</a:t>
            </a:r>
            <a:r>
              <a:rPr lang="de-DE" dirty="0"/>
              <a:t> </a:t>
            </a:r>
            <a:r>
              <a:rPr lang="de-DE" dirty="0" err="1"/>
              <a:t>knowledge</a:t>
            </a:r>
            <a:endParaRPr lang="de-DE" dirty="0"/>
          </a:p>
          <a:p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knowledge</a:t>
            </a:r>
            <a:endParaRPr lang="de-DE" dirty="0"/>
          </a:p>
          <a:p>
            <a:pPr lvl="1"/>
            <a:r>
              <a:rPr lang="de-DE" dirty="0" err="1">
                <a:solidFill>
                  <a:schemeClr val="accent5"/>
                </a:solidFill>
              </a:rPr>
              <a:t>We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assume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basic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knowledge</a:t>
            </a:r>
            <a:r>
              <a:rPr lang="de-DE" dirty="0">
                <a:solidFill>
                  <a:schemeClr val="accent5"/>
                </a:solidFill>
              </a:rPr>
              <a:t> in RSE</a:t>
            </a:r>
          </a:p>
          <a:p>
            <a:r>
              <a:rPr lang="de-DE" dirty="0"/>
              <a:t>Start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reader’s</a:t>
            </a:r>
            <a:r>
              <a:rPr lang="de-DE" dirty="0"/>
              <a:t> initial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26D2A10-9BEF-ABD7-2146-27E90E2749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Grafik 11" descr="Ordnersuche Silhouette">
            <a:extLst>
              <a:ext uri="{FF2B5EF4-FFF2-40B4-BE49-F238E27FC236}">
                <a16:creationId xmlns:a16="http://schemas.microsoft.com/office/drawing/2014/main" id="{6032EE37-7823-B6B6-67AD-27A615F45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2112" y="1016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7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4F055E4-D6AB-A4D5-BCA3-EA1A149DFD6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Other </a:t>
            </a:r>
            <a:r>
              <a:rPr lang="de-DE" b="1" dirty="0" err="1">
                <a:solidFill>
                  <a:schemeClr val="tx2"/>
                </a:solidFill>
              </a:rPr>
              <a:t>Structures</a:t>
            </a:r>
            <a:endParaRPr lang="de-DE" b="1" dirty="0">
              <a:solidFill>
                <a:schemeClr val="tx2"/>
              </a:solidFill>
            </a:endParaRPr>
          </a:p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specificity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overview</a:t>
            </a:r>
            <a:r>
              <a:rPr lang="de-DE" dirty="0"/>
              <a:t> → </a:t>
            </a:r>
            <a:r>
              <a:rPr lang="de-DE" dirty="0" err="1"/>
              <a:t>detailed</a:t>
            </a:r>
            <a:r>
              <a:rPr lang="de-DE" dirty="0"/>
              <a:t> </a:t>
            </a:r>
            <a:r>
              <a:rPr lang="de-DE" dirty="0" err="1"/>
              <a:t>steps</a:t>
            </a:r>
            <a:endParaRPr lang="de-DE" dirty="0"/>
          </a:p>
          <a:p>
            <a:pPr lvl="1"/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stages</a:t>
            </a:r>
            <a:endParaRPr lang="de-DE" dirty="0"/>
          </a:p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stepwise</a:t>
            </a:r>
            <a:r>
              <a:rPr lang="de-DE" dirty="0"/>
              <a:t> </a:t>
            </a:r>
            <a:r>
              <a:rPr lang="de-DE" dirty="0" err="1"/>
              <a:t>answering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and sub-</a:t>
            </a:r>
            <a:r>
              <a:rPr lang="de-DE" dirty="0" err="1"/>
              <a:t>questions</a:t>
            </a:r>
            <a:endParaRPr lang="de-DE" dirty="0"/>
          </a:p>
          <a:p>
            <a:pPr lvl="1"/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thread</a:t>
            </a:r>
            <a:endParaRPr lang="de-DE" dirty="0"/>
          </a:p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  <a:p>
            <a:pPr lvl="1"/>
            <a:r>
              <a:rPr lang="de-DE" dirty="0"/>
              <a:t>formal </a:t>
            </a:r>
            <a:r>
              <a:rPr lang="de-DE" dirty="0" err="1"/>
              <a:t>explanation</a:t>
            </a:r>
            <a:r>
              <a:rPr lang="de-DE" dirty="0"/>
              <a:t> </a:t>
            </a:r>
            <a:r>
              <a:rPr lang="de-DE" dirty="0" err="1"/>
              <a:t>follows</a:t>
            </a:r>
            <a:endParaRPr lang="de-DE" dirty="0"/>
          </a:p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complexity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simple </a:t>
            </a:r>
            <a:r>
              <a:rPr lang="de-DE" dirty="0" err="1"/>
              <a:t>case</a:t>
            </a:r>
            <a:endParaRPr lang="de-DE" dirty="0"/>
          </a:p>
          <a:p>
            <a:pPr lvl="1"/>
            <a:r>
              <a:rPr lang="de-DE" dirty="0" err="1"/>
              <a:t>include</a:t>
            </a:r>
            <a:r>
              <a:rPr lang="de-DE" dirty="0"/>
              <a:t> </a:t>
            </a:r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complexity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B386B9-665D-4171-CF55-841A70343B5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>
                <a:solidFill>
                  <a:schemeClr val="tx2"/>
                </a:solidFill>
              </a:rPr>
              <a:t>Structure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lang="de-DE" b="1" dirty="0" err="1">
                <a:solidFill>
                  <a:schemeClr val="tx2"/>
                </a:solidFill>
              </a:rPr>
              <a:t>by</a:t>
            </a:r>
            <a:r>
              <a:rPr lang="de-DE" b="1" dirty="0">
                <a:solidFill>
                  <a:schemeClr val="tx2"/>
                </a:solidFill>
              </a:rPr>
              <a:t> Argumentation Chain</a:t>
            </a:r>
          </a:p>
          <a:p>
            <a:r>
              <a:rPr lang="de-DE" dirty="0"/>
              <a:t>Concept</a:t>
            </a:r>
          </a:p>
          <a:p>
            <a:pPr lvl="1"/>
            <a:r>
              <a:rPr lang="de-DE" dirty="0"/>
              <a:t>Concept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</a:t>
            </a:r>
            <a:r>
              <a:rPr lang="de-DE" dirty="0" err="1"/>
              <a:t>approach</a:t>
            </a:r>
            <a:r>
              <a:rPr lang="de-DE" dirty="0"/>
              <a:t>.</a:t>
            </a:r>
          </a:p>
          <a:p>
            <a:r>
              <a:rPr lang="de-DE" dirty="0" err="1"/>
              <a:t>Realization</a:t>
            </a:r>
            <a:endParaRPr lang="de-DE" dirty="0"/>
          </a:p>
          <a:p>
            <a:pPr lvl="1"/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r>
              <a:rPr lang="de-DE" dirty="0"/>
              <a:t>Evaluation</a:t>
            </a:r>
          </a:p>
          <a:p>
            <a:pPr lvl="1"/>
            <a:r>
              <a:rPr lang="de-DE" dirty="0"/>
              <a:t>Evaluation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DE" dirty="0"/>
          </a:p>
          <a:p>
            <a:r>
              <a:rPr lang="de-DE" dirty="0"/>
              <a:t>Methods</a:t>
            </a:r>
          </a:p>
          <a:p>
            <a:pPr lvl="1"/>
            <a:r>
              <a:rPr lang="de-DE" dirty="0" err="1"/>
              <a:t>Methodical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DE" dirty="0"/>
          </a:p>
          <a:p>
            <a:r>
              <a:rPr lang="de-DE" dirty="0" err="1"/>
              <a:t>Results</a:t>
            </a:r>
            <a:endParaRPr lang="de-DE" dirty="0"/>
          </a:p>
          <a:p>
            <a:pPr lvl="1"/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interpretation</a:t>
            </a:r>
            <a:endParaRPr lang="de-DE" dirty="0"/>
          </a:p>
          <a:p>
            <a:r>
              <a:rPr lang="de-DE" dirty="0" err="1"/>
              <a:t>Discussion</a:t>
            </a:r>
            <a:endParaRPr lang="de-DE" dirty="0"/>
          </a:p>
          <a:p>
            <a:pPr lvl="1"/>
            <a:r>
              <a:rPr lang="de-DE" dirty="0"/>
              <a:t>Interpretation and </a:t>
            </a:r>
            <a:r>
              <a:rPr lang="de-DE" dirty="0" err="1"/>
              <a:t>discussion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pPr lvl="1"/>
            <a:r>
              <a:rPr lang="de-DE" dirty="0" err="1"/>
              <a:t>Limitations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371214-8D31-73DB-6652-A4030A8B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 </a:t>
            </a:r>
            <a:r>
              <a:rPr lang="de-DE" dirty="0" err="1"/>
              <a:t>Structure</a:t>
            </a:r>
            <a:r>
              <a:rPr lang="de-DE" dirty="0"/>
              <a:t>: Main </a:t>
            </a:r>
            <a:r>
              <a:rPr lang="de-DE" dirty="0" err="1"/>
              <a:t>Contribution</a:t>
            </a:r>
            <a:r>
              <a:rPr lang="de-DE" dirty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217E31-895D-6E57-89AA-21D15A9F81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7D5E07-291C-986B-33B8-4D221C0B5FFA}"/>
              </a:ext>
            </a:extLst>
          </p:cNvPr>
          <p:cNvSpPr txBox="1"/>
          <p:nvPr/>
        </p:nvSpPr>
        <p:spPr>
          <a:xfrm>
            <a:off x="3832806" y="3351707"/>
            <a:ext cx="21595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de-DE" i="1" dirty="0" err="1">
                <a:solidFill>
                  <a:schemeClr val="accent5"/>
                </a:solidFill>
                <a:latin typeface="Trebuchet MS" panose="020B0703020202090204" pitchFamily="34" charset="0"/>
              </a:rPr>
              <a:t>you</a:t>
            </a:r>
            <a:r>
              <a:rPr lang="de-DE" i="1" dirty="0">
                <a:solidFill>
                  <a:schemeClr val="accent5"/>
                </a:solidFill>
                <a:latin typeface="Trebuchet MS" panose="020B0703020202090204" pitchFamily="34" charset="0"/>
              </a:rPr>
              <a:t> </a:t>
            </a:r>
            <a:r>
              <a:rPr lang="de-DE" i="1" dirty="0" err="1">
                <a:solidFill>
                  <a:schemeClr val="accent5"/>
                </a:solidFill>
                <a:latin typeface="Trebuchet MS" panose="020B0703020202090204" pitchFamily="34" charset="0"/>
              </a:rPr>
              <a:t>may</a:t>
            </a:r>
            <a:r>
              <a:rPr lang="de-DE" i="1" dirty="0">
                <a:solidFill>
                  <a:schemeClr val="accent5"/>
                </a:solidFill>
                <a:latin typeface="Trebuchet MS" panose="020B0703020202090204" pitchFamily="34" charset="0"/>
              </a:rPr>
              <a:t> </a:t>
            </a:r>
            <a:r>
              <a:rPr lang="de-DE" i="1" dirty="0" err="1">
                <a:solidFill>
                  <a:schemeClr val="accent5"/>
                </a:solidFill>
                <a:latin typeface="Trebuchet MS" panose="020B0703020202090204" pitchFamily="34" charset="0"/>
              </a:rPr>
              <a:t>deviate</a:t>
            </a:r>
            <a:r>
              <a:rPr lang="de-DE" i="1" dirty="0">
                <a:solidFill>
                  <a:schemeClr val="accent5"/>
                </a:solidFill>
                <a:latin typeface="Trebuchet MS" panose="020B0703020202090204" pitchFamily="34" charset="0"/>
              </a:rPr>
              <a:t> in</a:t>
            </a:r>
            <a:br>
              <a:rPr lang="de-DE" i="1" dirty="0">
                <a:solidFill>
                  <a:schemeClr val="accent5"/>
                </a:solidFill>
                <a:latin typeface="Trebuchet MS" panose="020B0703020202090204" pitchFamily="34" charset="0"/>
              </a:rPr>
            </a:br>
            <a:r>
              <a:rPr lang="de-DE" i="1" dirty="0" err="1">
                <a:solidFill>
                  <a:schemeClr val="accent5"/>
                </a:solidFill>
                <a:latin typeface="Trebuchet MS" panose="020B0703020202090204" pitchFamily="34" charset="0"/>
              </a:rPr>
              <a:t>the</a:t>
            </a:r>
            <a:r>
              <a:rPr lang="de-DE" i="1" dirty="0">
                <a:solidFill>
                  <a:schemeClr val="accent5"/>
                </a:solidFill>
                <a:latin typeface="Trebuchet MS" panose="020B0703020202090204" pitchFamily="34" charset="0"/>
              </a:rPr>
              <a:t> </a:t>
            </a:r>
            <a:r>
              <a:rPr lang="de-DE" i="1" dirty="0" err="1">
                <a:solidFill>
                  <a:schemeClr val="accent5"/>
                </a:solidFill>
                <a:latin typeface="Trebuchet MS" panose="020B0703020202090204" pitchFamily="34" charset="0"/>
              </a:rPr>
              <a:t>seminar</a:t>
            </a:r>
            <a:r>
              <a:rPr lang="de-DE" i="1" dirty="0">
                <a:solidFill>
                  <a:schemeClr val="accent5"/>
                </a:solidFill>
                <a:latin typeface="Trebuchet MS" panose="020B0703020202090204" pitchFamily="34" charset="0"/>
              </a:rPr>
              <a:t> </a:t>
            </a:r>
            <a:r>
              <a:rPr lang="de-DE" i="1" dirty="0" err="1">
                <a:solidFill>
                  <a:schemeClr val="accent5"/>
                </a:solidFill>
                <a:latin typeface="Trebuchet MS" panose="020B0703020202090204" pitchFamily="34" charset="0"/>
              </a:rPr>
              <a:t>report</a:t>
            </a:r>
            <a:endParaRPr lang="de-DE" b="1" dirty="0">
              <a:solidFill>
                <a:schemeClr val="accent5"/>
              </a:solidFill>
            </a:endParaRPr>
          </a:p>
        </p:txBody>
      </p: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F5CC9770-F24A-7749-1322-1DD55DA06E7A}"/>
              </a:ext>
            </a:extLst>
          </p:cNvPr>
          <p:cNvSpPr/>
          <p:nvPr/>
        </p:nvSpPr>
        <p:spPr>
          <a:xfrm>
            <a:off x="3472806" y="2684873"/>
            <a:ext cx="360000" cy="1980000"/>
          </a:xfrm>
          <a:prstGeom prst="rightBrace">
            <a:avLst>
              <a:gd name="adj1" fmla="val 35864"/>
              <a:gd name="adj2" fmla="val 50000"/>
            </a:avLst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Grafik 12" descr="Verbunden Silhouette">
            <a:extLst>
              <a:ext uri="{FF2B5EF4-FFF2-40B4-BE49-F238E27FC236}">
                <a16:creationId xmlns:a16="http://schemas.microsoft.com/office/drawing/2014/main" id="{182D040E-98A1-DC40-3A98-644A92DC8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2589" y="989700"/>
            <a:ext cx="720000" cy="720000"/>
          </a:xfrm>
          <a:prstGeom prst="rect">
            <a:avLst/>
          </a:prstGeom>
        </p:spPr>
      </p:pic>
      <p:pic>
        <p:nvPicPr>
          <p:cNvPr id="15" name="Grafik 14" descr="Hierarchie Silhouette">
            <a:extLst>
              <a:ext uri="{FF2B5EF4-FFF2-40B4-BE49-F238E27FC236}">
                <a16:creationId xmlns:a16="http://schemas.microsoft.com/office/drawing/2014/main" id="{1CD9B757-5F23-A821-A3C5-0BAC34E26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2589" y="1015200"/>
            <a:ext cx="720000" cy="720000"/>
          </a:xfrm>
          <a:prstGeom prst="rect">
            <a:avLst/>
          </a:prstGeom>
        </p:spPr>
      </p:pic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D4AEC68-661A-71F7-E966-964AA2C9E50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942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409B615-650E-CFE0-D4A5-76705596936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7DBBF0-10B5-C016-B477-40664CCFF7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Future Work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1EA62AB-BC48-9F37-B788-ABDBBBFF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 </a:t>
            </a:r>
            <a:r>
              <a:rPr lang="de-DE" dirty="0" err="1"/>
              <a:t>Structure</a:t>
            </a:r>
            <a:endParaRPr lang="de-DE" dirty="0"/>
          </a:p>
        </p:txBody>
      </p:sp>
      <p:pic>
        <p:nvPicPr>
          <p:cNvPr id="10" name="Inhaltsplatzhalter 9" descr="Kompass Silhouette">
            <a:extLst>
              <a:ext uri="{FF2B5EF4-FFF2-40B4-BE49-F238E27FC236}">
                <a16:creationId xmlns:a16="http://schemas.microsoft.com/office/drawing/2014/main" id="{A8A47AEE-A3FB-6E25-B214-F1C15A215915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37107" y="1016000"/>
            <a:ext cx="720000" cy="720000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4ADC25-056A-BE51-34A5-1CFA1D9E1B6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2"/>
                </a:solidFill>
              </a:rPr>
              <a:t>Goal: </a:t>
            </a:r>
            <a:r>
              <a:rPr lang="de-DE" dirty="0" err="1"/>
              <a:t>Summarize</a:t>
            </a:r>
            <a:r>
              <a:rPr lang="de-DE" dirty="0"/>
              <a:t> </a:t>
            </a:r>
            <a:r>
              <a:rPr lang="de-DE" dirty="0" err="1"/>
              <a:t>core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and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points</a:t>
            </a:r>
            <a:endParaRPr lang="de-DE" dirty="0"/>
          </a:p>
          <a:p>
            <a:pPr>
              <a:spcBef>
                <a:spcPts val="1200"/>
              </a:spcBef>
            </a:pPr>
            <a:r>
              <a:rPr lang="de-DE" dirty="0"/>
              <a:t>Recap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and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obtained</a:t>
            </a:r>
            <a:endParaRPr lang="de-DE" dirty="0"/>
          </a:p>
          <a:p>
            <a:r>
              <a:rPr lang="de-DE" dirty="0"/>
              <a:t>State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takeaway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endParaRPr lang="de-DE" dirty="0"/>
          </a:p>
          <a:p>
            <a:r>
              <a:rPr lang="de-DE" dirty="0"/>
              <a:t>Link </a:t>
            </a:r>
            <a:r>
              <a:rPr lang="de-DE" dirty="0" err="1"/>
              <a:t>results</a:t>
            </a:r>
            <a:r>
              <a:rPr lang="de-DE" dirty="0"/>
              <a:t> back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question</a:t>
            </a:r>
            <a:endParaRPr lang="de-DE" dirty="0"/>
          </a:p>
          <a:p>
            <a:r>
              <a:rPr lang="de-DE" dirty="0"/>
              <a:t>Clarify </a:t>
            </a:r>
            <a:r>
              <a:rPr lang="de-DE" dirty="0" err="1"/>
              <a:t>extent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answered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1031667-5C48-514C-4BD9-6B5CC3BB172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2"/>
                </a:solidFill>
              </a:rPr>
              <a:t>Goal: </a:t>
            </a:r>
            <a:r>
              <a:rPr lang="de-DE" dirty="0" err="1"/>
              <a:t>Derive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directions</a:t>
            </a:r>
            <a:endParaRPr lang="de-DE" dirty="0"/>
          </a:p>
          <a:p>
            <a:pPr>
              <a:spcBef>
                <a:spcPts val="1200"/>
              </a:spcBef>
            </a:pPr>
            <a:r>
              <a:rPr lang="de-DE" dirty="0" err="1"/>
              <a:t>Identify</a:t>
            </a:r>
            <a:endParaRPr lang="de-DE" dirty="0"/>
          </a:p>
          <a:p>
            <a:pPr lvl="1"/>
            <a:r>
              <a:rPr lang="de-DE" dirty="0"/>
              <a:t>open </a:t>
            </a:r>
            <a:r>
              <a:rPr lang="de-DE" dirty="0" err="1"/>
              <a:t>problems</a:t>
            </a:r>
            <a:endParaRPr lang="de-DE" dirty="0"/>
          </a:p>
          <a:p>
            <a:pPr lvl="1"/>
            <a:r>
              <a:rPr lang="de-DE" dirty="0" err="1"/>
              <a:t>remaining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, e.g., </a:t>
            </a:r>
            <a:r>
              <a:rPr lang="de-DE" dirty="0" err="1"/>
              <a:t>evaluations</a:t>
            </a:r>
            <a:endParaRPr lang="de-DE" dirty="0"/>
          </a:p>
          <a:p>
            <a:pPr lvl="1"/>
            <a:r>
              <a:rPr lang="de-DE" dirty="0" err="1"/>
              <a:t>Limitations</a:t>
            </a:r>
            <a:endParaRPr lang="de-DE" dirty="0"/>
          </a:p>
          <a:p>
            <a:r>
              <a:rPr lang="de-DE" dirty="0" err="1"/>
              <a:t>Propose</a:t>
            </a:r>
            <a:r>
              <a:rPr lang="de-DE" dirty="0"/>
              <a:t> possible </a:t>
            </a:r>
            <a:r>
              <a:rPr lang="de-DE" dirty="0" err="1"/>
              <a:t>improvements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3393545-5C19-2634-6E61-4F5E565E37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Grafik 11" descr="Volltreffer Silhouette">
            <a:extLst>
              <a:ext uri="{FF2B5EF4-FFF2-40B4-BE49-F238E27FC236}">
                <a16:creationId xmlns:a16="http://schemas.microsoft.com/office/drawing/2014/main" id="{33D3309B-B0B7-E25E-E303-F08E6066C9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038" y="10152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75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506D13A-4193-4F43-9C83-C83CE14497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7037" y="2257191"/>
            <a:ext cx="5580000" cy="312265"/>
          </a:xfrm>
        </p:spPr>
        <p:txBody>
          <a:bodyPr/>
          <a:lstStyle/>
          <a:p>
            <a:r>
              <a:rPr lang="de-DE" dirty="0" err="1"/>
              <a:t>Stylistic</a:t>
            </a:r>
            <a:r>
              <a:rPr lang="de-DE" dirty="0"/>
              <a:t> Devices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D1928-0346-B5AA-DFCE-4FBAA44F22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2257191"/>
            <a:ext cx="5580000" cy="312265"/>
          </a:xfrm>
        </p:spPr>
        <p:txBody>
          <a:bodyPr/>
          <a:lstStyle/>
          <a:p>
            <a:r>
              <a:rPr lang="de-DE" dirty="0" err="1"/>
              <a:t>Adjectives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01F7E5F-4FCB-15E5-9F45-377FFE54D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Language</a:t>
            </a:r>
          </a:p>
        </p:txBody>
      </p:sp>
      <p:pic>
        <p:nvPicPr>
          <p:cNvPr id="16" name="Inhaltsplatzhalter 15" descr="Drama Silhouette">
            <a:extLst>
              <a:ext uri="{FF2B5EF4-FFF2-40B4-BE49-F238E27FC236}">
                <a16:creationId xmlns:a16="http://schemas.microsoft.com/office/drawing/2014/main" id="{AFDEDEE0-BC52-B56D-F399-1815F8AC0BA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36662" y="2257191"/>
            <a:ext cx="720000" cy="720000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6F1A9E-9F97-E42B-3BAB-854EEB19FFC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7037" y="2714391"/>
            <a:ext cx="5580000" cy="1004699"/>
          </a:xfrm>
        </p:spPr>
        <p:txBody>
          <a:bodyPr>
            <a:spAutoFit/>
          </a:bodyPr>
          <a:lstStyle/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enhance</a:t>
            </a:r>
            <a:r>
              <a:rPr lang="de-DE" dirty="0"/>
              <a:t> </a:t>
            </a:r>
            <a:r>
              <a:rPr lang="de-DE" dirty="0" err="1"/>
              <a:t>comprehension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devices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leave</a:t>
            </a:r>
            <a:r>
              <a:rPr lang="de-DE" dirty="0"/>
              <a:t> </a:t>
            </a:r>
            <a:r>
              <a:rPr lang="de-DE" dirty="0" err="1"/>
              <a:t>room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interpretation</a:t>
            </a:r>
            <a:r>
              <a:rPr lang="de-DE" dirty="0"/>
              <a:t>, e.g., </a:t>
            </a:r>
            <a:r>
              <a:rPr lang="de-DE" dirty="0" err="1"/>
              <a:t>metaphors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rhetorical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A6F9211-8D88-A506-3D9D-EC2125445A3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4800" y="2714391"/>
            <a:ext cx="5580000" cy="1004699"/>
          </a:xfrm>
        </p:spPr>
        <p:txBody>
          <a:bodyPr>
            <a:spAutoFit/>
          </a:bodyPr>
          <a:lstStyle/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sparingly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precise</a:t>
            </a:r>
            <a:r>
              <a:rPr lang="de-DE" dirty="0"/>
              <a:t> </a:t>
            </a:r>
            <a:r>
              <a:rPr lang="de-DE" dirty="0" err="1"/>
              <a:t>descriptions</a:t>
            </a:r>
            <a:endParaRPr lang="de-DE" dirty="0"/>
          </a:p>
          <a:p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unncessary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decorative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judgmental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EAC1479-4846-9E39-4D7C-D0FD604DB9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1F9FC7C-4BEC-13A8-F36F-31170EE41680}"/>
              </a:ext>
            </a:extLst>
          </p:cNvPr>
          <p:cNvSpPr/>
          <p:nvPr/>
        </p:nvSpPr>
        <p:spPr>
          <a:xfrm>
            <a:off x="334963" y="3912542"/>
            <a:ext cx="5579837" cy="81402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 w="254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 err="1">
                <a:solidFill>
                  <a:schemeClr val="tx1"/>
                </a:solidFill>
              </a:rPr>
              <a:t>Compared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to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older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approaches</a:t>
            </a:r>
            <a:r>
              <a:rPr lang="de-DE" i="1" dirty="0">
                <a:solidFill>
                  <a:schemeClr val="tx1"/>
                </a:solidFill>
              </a:rPr>
              <a:t>, out </a:t>
            </a:r>
            <a:r>
              <a:rPr lang="de-DE" i="1" dirty="0" err="1">
                <a:solidFill>
                  <a:schemeClr val="tx1"/>
                </a:solidFill>
              </a:rPr>
              <a:t>method</a:t>
            </a:r>
            <a:r>
              <a:rPr lang="de-DE" i="1" dirty="0">
                <a:solidFill>
                  <a:schemeClr val="tx1"/>
                </a:solidFill>
              </a:rPr>
              <a:t> was </a:t>
            </a:r>
            <a:r>
              <a:rPr lang="de-DE" i="1" dirty="0" err="1">
                <a:solidFill>
                  <a:schemeClr val="tx1"/>
                </a:solidFill>
              </a:rPr>
              <a:t>able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to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achieve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better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results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experiments</a:t>
            </a:r>
            <a:endParaRPr lang="de-DE" i="1" dirty="0">
              <a:solidFill>
                <a:schemeClr val="tx1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32F456D1-8035-F98C-01A1-5E4DF863AD1C}"/>
              </a:ext>
            </a:extLst>
          </p:cNvPr>
          <p:cNvSpPr/>
          <p:nvPr/>
        </p:nvSpPr>
        <p:spPr>
          <a:xfrm>
            <a:off x="334963" y="4920022"/>
            <a:ext cx="5579837" cy="814028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254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 err="1">
                <a:solidFill>
                  <a:schemeClr val="tx1"/>
                </a:solidFill>
              </a:rPr>
              <a:t>Our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approach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delivers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incredible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results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experiments</a:t>
            </a:r>
            <a:endParaRPr lang="de-DE" i="1" dirty="0">
              <a:solidFill>
                <a:schemeClr val="tx1"/>
              </a:solidFill>
            </a:endParaRP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C77EC80-18C9-5158-D6E4-A210FFFD2F1E}"/>
              </a:ext>
            </a:extLst>
          </p:cNvPr>
          <p:cNvSpPr/>
          <p:nvPr/>
        </p:nvSpPr>
        <p:spPr>
          <a:xfrm>
            <a:off x="6277201" y="3912542"/>
            <a:ext cx="5579837" cy="81402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 w="254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Finding a </a:t>
            </a:r>
            <a:r>
              <a:rPr lang="de-DE" i="1" dirty="0" err="1">
                <a:solidFill>
                  <a:schemeClr val="tx1"/>
                </a:solidFill>
              </a:rPr>
              <a:t>correct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path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graph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is</a:t>
            </a:r>
            <a:r>
              <a:rPr lang="de-DE" i="1" dirty="0">
                <a:solidFill>
                  <a:schemeClr val="tx1"/>
                </a:solidFill>
              </a:rPr>
              <a:t> NP-</a:t>
            </a:r>
            <a:r>
              <a:rPr lang="de-DE" i="1" dirty="0" err="1">
                <a:solidFill>
                  <a:schemeClr val="tx1"/>
                </a:solidFill>
              </a:rPr>
              <a:t>hard</a:t>
            </a:r>
            <a:r>
              <a:rPr lang="de-DE" i="1" dirty="0">
                <a:solidFill>
                  <a:schemeClr val="tx1"/>
                </a:solidFill>
              </a:rPr>
              <a:t>. The </a:t>
            </a:r>
            <a:r>
              <a:rPr lang="de-DE" i="1" dirty="0" err="1">
                <a:solidFill>
                  <a:schemeClr val="tx1"/>
                </a:solidFill>
              </a:rPr>
              <a:t>cause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this</a:t>
            </a:r>
            <a:r>
              <a:rPr lang="de-DE" i="1" dirty="0">
                <a:solidFill>
                  <a:schemeClr val="tx1"/>
                </a:solidFill>
              </a:rPr>
              <a:t> XY.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B492F171-8017-769A-285F-A9161E40DD01}"/>
              </a:ext>
            </a:extLst>
          </p:cNvPr>
          <p:cNvSpPr/>
          <p:nvPr/>
        </p:nvSpPr>
        <p:spPr>
          <a:xfrm>
            <a:off x="6277201" y="4920022"/>
            <a:ext cx="5579837" cy="814028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254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Finding a </a:t>
            </a:r>
            <a:r>
              <a:rPr lang="de-DE" i="1" dirty="0" err="1">
                <a:solidFill>
                  <a:schemeClr val="tx1"/>
                </a:solidFill>
              </a:rPr>
              <a:t>correct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path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graph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is</a:t>
            </a:r>
            <a:r>
              <a:rPr lang="de-DE" i="1" dirty="0">
                <a:solidFill>
                  <a:schemeClr val="tx1"/>
                </a:solidFill>
              </a:rPr>
              <a:t> like </a:t>
            </a:r>
            <a:r>
              <a:rPr lang="de-DE" i="1" dirty="0" err="1">
                <a:solidFill>
                  <a:schemeClr val="tx1"/>
                </a:solidFill>
              </a:rPr>
              <a:t>looking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for</a:t>
            </a:r>
            <a:r>
              <a:rPr lang="de-DE" i="1" dirty="0">
                <a:solidFill>
                  <a:schemeClr val="tx1"/>
                </a:solidFill>
              </a:rPr>
              <a:t> a </a:t>
            </a:r>
            <a:r>
              <a:rPr lang="de-DE" i="1" dirty="0" err="1">
                <a:solidFill>
                  <a:schemeClr val="tx1"/>
                </a:solidFill>
              </a:rPr>
              <a:t>needle</a:t>
            </a:r>
            <a:r>
              <a:rPr lang="de-DE" i="1" dirty="0">
                <a:solidFill>
                  <a:schemeClr val="tx1"/>
                </a:solidFill>
              </a:rPr>
              <a:t> in a </a:t>
            </a:r>
            <a:r>
              <a:rPr lang="de-DE" i="1" dirty="0" err="1">
                <a:solidFill>
                  <a:schemeClr val="tx1"/>
                </a:solidFill>
              </a:rPr>
              <a:t>haystack</a:t>
            </a:r>
            <a:r>
              <a:rPr lang="de-DE" i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Inhaltsplatzhalter 1">
            <a:extLst>
              <a:ext uri="{FF2B5EF4-FFF2-40B4-BE49-F238E27FC236}">
                <a16:creationId xmlns:a16="http://schemas.microsoft.com/office/drawing/2014/main" id="{7FAAEAE8-1993-ECFF-5412-717BDDA0036A}"/>
              </a:ext>
            </a:extLst>
          </p:cNvPr>
          <p:cNvSpPr txBox="1">
            <a:spLocks/>
          </p:cNvSpPr>
          <p:nvPr/>
        </p:nvSpPr>
        <p:spPr>
          <a:xfrm>
            <a:off x="334800" y="1015200"/>
            <a:ext cx="11520000" cy="10047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159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b="1" i="0" kern="1200">
                <a:solidFill>
                  <a:schemeClr val="tx2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de-DE" dirty="0"/>
              <a:t>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dirty="0">
                <a:solidFill>
                  <a:schemeClr val="tx1"/>
                </a:solidFill>
              </a:rPr>
              <a:t>Convey </a:t>
            </a:r>
            <a:r>
              <a:rPr lang="de-DE" b="0" dirty="0" err="1">
                <a:solidFill>
                  <a:schemeClr val="tx1"/>
                </a:solidFill>
              </a:rPr>
              <a:t>knowledge</a:t>
            </a:r>
            <a:r>
              <a:rPr lang="de-DE" b="0" dirty="0">
                <a:solidFill>
                  <a:schemeClr val="tx1"/>
                </a:solidFill>
              </a:rPr>
              <a:t> </a:t>
            </a:r>
            <a:r>
              <a:rPr lang="de-DE" b="0" dirty="0" err="1">
                <a:solidFill>
                  <a:schemeClr val="tx1"/>
                </a:solidFill>
              </a:rPr>
              <a:t>results</a:t>
            </a:r>
            <a:r>
              <a:rPr lang="de-DE" b="0" dirty="0">
                <a:solidFill>
                  <a:schemeClr val="tx1"/>
                </a:solidFill>
              </a:rPr>
              <a:t>- and not </a:t>
            </a:r>
            <a:r>
              <a:rPr lang="de-DE" b="0" dirty="0" err="1">
                <a:solidFill>
                  <a:schemeClr val="tx1"/>
                </a:solidFill>
              </a:rPr>
              <a:t>process-oriented</a:t>
            </a:r>
            <a:endParaRPr lang="de-DE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dirty="0" err="1">
                <a:solidFill>
                  <a:schemeClr val="tx1"/>
                </a:solidFill>
              </a:rPr>
              <a:t>Justify</a:t>
            </a:r>
            <a:r>
              <a:rPr lang="de-DE" b="0" dirty="0">
                <a:solidFill>
                  <a:schemeClr val="tx1"/>
                </a:solidFill>
              </a:rPr>
              <a:t> </a:t>
            </a:r>
            <a:r>
              <a:rPr lang="de-DE" b="0" dirty="0" err="1">
                <a:solidFill>
                  <a:schemeClr val="tx1"/>
                </a:solidFill>
              </a:rPr>
              <a:t>everything</a:t>
            </a:r>
            <a:r>
              <a:rPr lang="de-DE" b="0" dirty="0">
                <a:solidFill>
                  <a:schemeClr val="tx1"/>
                </a:solidFill>
              </a:rPr>
              <a:t> </a:t>
            </a:r>
            <a:r>
              <a:rPr lang="de-DE" b="0" dirty="0" err="1">
                <a:solidFill>
                  <a:schemeClr val="tx1"/>
                </a:solidFill>
              </a:rPr>
              <a:t>to</a:t>
            </a:r>
            <a:r>
              <a:rPr lang="de-DE" b="0" dirty="0">
                <a:solidFill>
                  <a:schemeClr val="tx1"/>
                </a:solidFill>
              </a:rPr>
              <a:t> </a:t>
            </a:r>
            <a:r>
              <a:rPr lang="de-DE" b="0" dirty="0" err="1">
                <a:solidFill>
                  <a:schemeClr val="tx1"/>
                </a:solidFill>
              </a:rPr>
              <a:t>make</a:t>
            </a:r>
            <a:r>
              <a:rPr lang="de-DE" b="0" dirty="0">
                <a:solidFill>
                  <a:schemeClr val="tx1"/>
                </a:solidFill>
              </a:rPr>
              <a:t> </a:t>
            </a:r>
            <a:r>
              <a:rPr lang="de-DE" b="0" dirty="0" err="1">
                <a:solidFill>
                  <a:schemeClr val="tx1"/>
                </a:solidFill>
              </a:rPr>
              <a:t>results</a:t>
            </a:r>
            <a:r>
              <a:rPr lang="de-DE" b="0" dirty="0">
                <a:solidFill>
                  <a:schemeClr val="tx1"/>
                </a:solidFill>
              </a:rPr>
              <a:t> </a:t>
            </a:r>
            <a:r>
              <a:rPr lang="de-DE" b="0" dirty="0" err="1">
                <a:solidFill>
                  <a:schemeClr val="tx1"/>
                </a:solidFill>
              </a:rPr>
              <a:t>comprehensible</a:t>
            </a:r>
            <a:endParaRPr lang="de-DE" b="0" dirty="0">
              <a:solidFill>
                <a:schemeClr val="tx1"/>
              </a:solidFill>
            </a:endParaRPr>
          </a:p>
        </p:txBody>
      </p:sp>
      <p:pic>
        <p:nvPicPr>
          <p:cNvPr id="18" name="Grafik 17" descr="Palette Silhouette">
            <a:extLst>
              <a:ext uri="{FF2B5EF4-FFF2-40B4-BE49-F238E27FC236}">
                <a16:creationId xmlns:a16="http://schemas.microsoft.com/office/drawing/2014/main" id="{B814184E-67D5-0A30-1482-0F1A5619C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4800" y="2257191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14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2C17-C9D7-C9FB-DCB3-6723B928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49CCF4E-E594-DB99-181F-71313CDD8D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7037" y="1016000"/>
            <a:ext cx="5580000" cy="312265"/>
          </a:xfrm>
        </p:spPr>
        <p:txBody>
          <a:bodyPr/>
          <a:lstStyle/>
          <a:p>
            <a:pPr marL="0" indent="0">
              <a:spcBef>
                <a:spcPts val="1200"/>
              </a:spcBef>
            </a:pPr>
            <a:r>
              <a:rPr lang="de-DE" dirty="0" err="1"/>
              <a:t>Active</a:t>
            </a:r>
            <a:r>
              <a:rPr lang="de-DE" dirty="0"/>
              <a:t> vs. Passive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336BC-7F97-1577-2F7A-D28551C08A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1016000"/>
            <a:ext cx="5580000" cy="312265"/>
          </a:xfrm>
        </p:spPr>
        <p:txBody>
          <a:bodyPr/>
          <a:lstStyle/>
          <a:p>
            <a:pPr marL="0" indent="0"/>
            <a:r>
              <a:rPr lang="de-DE" dirty="0"/>
              <a:t>Choice </a:t>
            </a:r>
            <a:r>
              <a:rPr lang="de-DE" dirty="0" err="1"/>
              <a:t>of</a:t>
            </a:r>
            <a:r>
              <a:rPr lang="de-DE" dirty="0"/>
              <a:t> Words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AABAD4C-A3D3-06E6-6BF7-94BEEACF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Language</a:t>
            </a:r>
          </a:p>
        </p:txBody>
      </p:sp>
      <p:pic>
        <p:nvPicPr>
          <p:cNvPr id="16" name="Inhaltsplatzhalter 15" descr="Übertragen Silhouette">
            <a:extLst>
              <a:ext uri="{FF2B5EF4-FFF2-40B4-BE49-F238E27FC236}">
                <a16:creationId xmlns:a16="http://schemas.microsoft.com/office/drawing/2014/main" id="{3649EB45-3BAF-7741-BEAD-B5D035925E9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14160" y="1016000"/>
            <a:ext cx="720000" cy="720000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1D067D-BEEE-EB4C-DE49-B644249E866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7037" y="1473200"/>
            <a:ext cx="5580000" cy="1004699"/>
          </a:xfrm>
        </p:spPr>
        <p:txBody>
          <a:bodyPr>
            <a:spAutoFit/>
          </a:bodyPr>
          <a:lstStyle/>
          <a:p>
            <a:r>
              <a:rPr lang="de-DE" dirty="0" err="1"/>
              <a:t>Predominantly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in </a:t>
            </a:r>
            <a:r>
              <a:rPr lang="de-DE" dirty="0" err="1"/>
              <a:t>active</a:t>
            </a:r>
            <a:r>
              <a:rPr lang="de-DE" dirty="0"/>
              <a:t> </a:t>
            </a:r>
            <a:r>
              <a:rPr lang="de-DE" dirty="0" err="1"/>
              <a:t>voice</a:t>
            </a:r>
            <a:endParaRPr lang="de-DE" dirty="0"/>
          </a:p>
          <a:p>
            <a:r>
              <a:rPr lang="de-DE" dirty="0"/>
              <a:t>Actor </a:t>
            </a:r>
            <a:r>
              <a:rPr lang="de-DE" dirty="0" err="1"/>
              <a:t>becomes</a:t>
            </a:r>
            <a:r>
              <a:rPr lang="de-DE" dirty="0"/>
              <a:t> </a:t>
            </a:r>
            <a:r>
              <a:rPr lang="de-DE" dirty="0" err="1"/>
              <a:t>clear</a:t>
            </a:r>
            <a:endParaRPr lang="de-DE" dirty="0"/>
          </a:p>
          <a:p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1D00C-3816-4004-963B-C28CD3F4514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4800" y="1473200"/>
            <a:ext cx="5580000" cy="1697196"/>
          </a:xfrm>
        </p:spPr>
        <p:txBody>
          <a:bodyPr>
            <a:spAutoFit/>
          </a:bodyPr>
          <a:lstStyle/>
          <a:p>
            <a:r>
              <a:rPr lang="de-DE" dirty="0"/>
              <a:t>Express </a:t>
            </a:r>
            <a:r>
              <a:rPr lang="de-DE" dirty="0" err="1"/>
              <a:t>precisely</a:t>
            </a:r>
            <a:r>
              <a:rPr lang="de-DE" dirty="0"/>
              <a:t>, </a:t>
            </a:r>
            <a:r>
              <a:rPr lang="de-DE" dirty="0" err="1"/>
              <a:t>rationally</a:t>
            </a:r>
            <a:r>
              <a:rPr lang="de-DE" dirty="0"/>
              <a:t> and </a:t>
            </a:r>
            <a:r>
              <a:rPr lang="de-DE" dirty="0" err="1"/>
              <a:t>objectively</a:t>
            </a:r>
            <a:endParaRPr lang="de-DE" dirty="0"/>
          </a:p>
          <a:p>
            <a:r>
              <a:rPr lang="de-DE" dirty="0"/>
              <a:t>Keep </a:t>
            </a:r>
            <a:r>
              <a:rPr lang="de-DE" dirty="0" err="1"/>
              <a:t>sentences</a:t>
            </a:r>
            <a:r>
              <a:rPr lang="de-DE" dirty="0"/>
              <a:t> </a:t>
            </a:r>
            <a:r>
              <a:rPr lang="de-DE" dirty="0" err="1"/>
              <a:t>short</a:t>
            </a:r>
            <a:endParaRPr lang="de-DE" dirty="0"/>
          </a:p>
          <a:p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vague</a:t>
            </a:r>
            <a:r>
              <a:rPr lang="de-DE" dirty="0"/>
              <a:t> </a:t>
            </a:r>
            <a:r>
              <a:rPr lang="de-DE" dirty="0" err="1"/>
              <a:t>formulations</a:t>
            </a:r>
            <a:endParaRPr lang="de-DE" dirty="0"/>
          </a:p>
          <a:p>
            <a:r>
              <a:rPr lang="de-DE" dirty="0"/>
              <a:t>Mark personal </a:t>
            </a:r>
            <a:r>
              <a:rPr lang="de-DE" dirty="0" err="1"/>
              <a:t>opinions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B4279-B2F2-B4B9-28E4-54BF0550E4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F2619E3-FD9D-ACE3-0376-21F805EFF470}"/>
              </a:ext>
            </a:extLst>
          </p:cNvPr>
          <p:cNvSpPr/>
          <p:nvPr/>
        </p:nvSpPr>
        <p:spPr>
          <a:xfrm>
            <a:off x="334963" y="3912542"/>
            <a:ext cx="5579837" cy="81402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 w="254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 err="1">
                <a:solidFill>
                  <a:schemeClr val="tx1"/>
                </a:solidFill>
              </a:rPr>
              <a:t>Our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method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achieved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higher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accuracy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than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previous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approaches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experiments</a:t>
            </a:r>
            <a:r>
              <a:rPr lang="de-DE" i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5E7560CF-2E57-E588-AF7F-8D8DA1E6B6F1}"/>
              </a:ext>
            </a:extLst>
          </p:cNvPr>
          <p:cNvSpPr/>
          <p:nvPr/>
        </p:nvSpPr>
        <p:spPr>
          <a:xfrm>
            <a:off x="334963" y="4920022"/>
            <a:ext cx="5579837" cy="814028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254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 err="1">
                <a:solidFill>
                  <a:schemeClr val="tx1"/>
                </a:solidFill>
              </a:rPr>
              <a:t>Our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amazing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method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delivers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incredible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results</a:t>
            </a:r>
            <a:r>
              <a:rPr lang="de-DE" i="1" dirty="0">
                <a:solidFill>
                  <a:schemeClr val="tx1"/>
                </a:solidFill>
              </a:rPr>
              <a:t> and </a:t>
            </a:r>
            <a:r>
              <a:rPr lang="de-DE" i="1" dirty="0" err="1">
                <a:solidFill>
                  <a:schemeClr val="tx1"/>
                </a:solidFill>
              </a:rPr>
              <a:t>outperforms</a:t>
            </a:r>
            <a:r>
              <a:rPr lang="de-DE" i="1" dirty="0">
                <a:solidFill>
                  <a:schemeClr val="tx1"/>
                </a:solidFill>
              </a:rPr>
              <a:t> all </a:t>
            </a:r>
            <a:r>
              <a:rPr lang="de-DE" i="1" dirty="0" err="1">
                <a:solidFill>
                  <a:schemeClr val="tx1"/>
                </a:solidFill>
              </a:rPr>
              <a:t>others</a:t>
            </a:r>
            <a:r>
              <a:rPr lang="de-DE" i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08E5041C-4592-DE25-5730-87C86C0BC0FB}"/>
              </a:ext>
            </a:extLst>
          </p:cNvPr>
          <p:cNvSpPr/>
          <p:nvPr/>
        </p:nvSpPr>
        <p:spPr>
          <a:xfrm>
            <a:off x="6277201" y="3912542"/>
            <a:ext cx="5579837" cy="81402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 w="254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The </a:t>
            </a:r>
            <a:r>
              <a:rPr lang="de-DE" i="1" dirty="0" err="1">
                <a:solidFill>
                  <a:schemeClr val="tx1"/>
                </a:solidFill>
              </a:rPr>
              <a:t>preprocessor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converts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source code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first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step</a:t>
            </a:r>
            <a:r>
              <a:rPr lang="de-DE" i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69DA247D-F414-2658-1514-FB0B40255E4B}"/>
              </a:ext>
            </a:extLst>
          </p:cNvPr>
          <p:cNvSpPr/>
          <p:nvPr/>
        </p:nvSpPr>
        <p:spPr>
          <a:xfrm>
            <a:off x="6277201" y="4920022"/>
            <a:ext cx="5579837" cy="814028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254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first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step</a:t>
            </a:r>
            <a:r>
              <a:rPr lang="de-DE" i="1" dirty="0">
                <a:solidFill>
                  <a:schemeClr val="tx1"/>
                </a:solidFill>
              </a:rPr>
              <a:t>,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source code </a:t>
            </a:r>
            <a:r>
              <a:rPr lang="de-DE" i="1" dirty="0" err="1">
                <a:solidFill>
                  <a:schemeClr val="tx1"/>
                </a:solidFill>
              </a:rPr>
              <a:t>is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converted</a:t>
            </a:r>
            <a:r>
              <a:rPr lang="de-DE" i="1" dirty="0">
                <a:solidFill>
                  <a:schemeClr val="tx1"/>
                </a:solidFill>
              </a:rPr>
              <a:t>.</a:t>
            </a:r>
          </a:p>
          <a:p>
            <a:endParaRPr lang="de-DE" i="1" dirty="0">
              <a:solidFill>
                <a:schemeClr val="tx1"/>
              </a:solidFill>
            </a:endParaRPr>
          </a:p>
        </p:txBody>
      </p:sp>
      <p:pic>
        <p:nvPicPr>
          <p:cNvPr id="5" name="Grafik 4" descr="Geschichten erzählen Silhouette">
            <a:extLst>
              <a:ext uri="{FF2B5EF4-FFF2-40B4-BE49-F238E27FC236}">
                <a16:creationId xmlns:a16="http://schemas.microsoft.com/office/drawing/2014/main" id="{BB85D87A-C24D-B645-9926-53B40AB2FA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2502" y="1080465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24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6385A8F-CDD2-3F2C-FDCE-8B1F29DC3C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7037" y="1015200"/>
            <a:ext cx="5580000" cy="312265"/>
          </a:xfrm>
        </p:spPr>
        <p:txBody>
          <a:bodyPr/>
          <a:lstStyle/>
          <a:p>
            <a:r>
              <a:rPr lang="de-DE" dirty="0"/>
              <a:t>Possible Solutions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BDDDC9-C6CF-9749-7919-70E4FA1764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1015200"/>
            <a:ext cx="5580000" cy="312265"/>
          </a:xfrm>
        </p:spPr>
        <p:txBody>
          <a:bodyPr/>
          <a:lstStyle/>
          <a:p>
            <a:r>
              <a:rPr lang="de-DE" dirty="0"/>
              <a:t>Definition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886693-59E4-C486-4815-73EF3B60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Overcoming</a:t>
            </a:r>
            <a:r>
              <a:rPr lang="de-DE" dirty="0"/>
              <a:t> </a:t>
            </a:r>
            <a:r>
              <a:rPr lang="de-DE" dirty="0" err="1"/>
              <a:t>Writer‘s</a:t>
            </a:r>
            <a:r>
              <a:rPr lang="de-DE" dirty="0"/>
              <a:t> Block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ED6B7E-D9E8-4F10-F9D1-BE6180FA0EF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 err="1"/>
              <a:t>Planning</a:t>
            </a:r>
            <a:endParaRPr lang="de-DE" dirty="0"/>
          </a:p>
          <a:p>
            <a:pPr lvl="1">
              <a:lnSpc>
                <a:spcPct val="150000"/>
              </a:lnSpc>
            </a:pPr>
            <a:r>
              <a:rPr lang="de-DE" dirty="0"/>
              <a:t>Use a </a:t>
            </a:r>
            <a:r>
              <a:rPr lang="de-DE" dirty="0" err="1"/>
              <a:t>clear</a:t>
            </a:r>
            <a:r>
              <a:rPr lang="de-DE" dirty="0"/>
              <a:t> </a:t>
            </a:r>
            <a:r>
              <a:rPr lang="de-DE" dirty="0" err="1"/>
              <a:t>writing</a:t>
            </a:r>
            <a:r>
              <a:rPr lang="de-DE" dirty="0"/>
              <a:t> plan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paper</a:t>
            </a:r>
            <a:r>
              <a:rPr lang="de-DE" dirty="0"/>
              <a:t> </a:t>
            </a:r>
            <a:r>
              <a:rPr lang="de-DE" dirty="0" err="1"/>
              <a:t>structure</a:t>
            </a:r>
            <a:endParaRPr lang="de-DE" dirty="0"/>
          </a:p>
          <a:p>
            <a:pPr lvl="1">
              <a:lnSpc>
                <a:spcPct val="150000"/>
              </a:lnSpc>
            </a:pPr>
            <a:r>
              <a:rPr lang="de-DE" dirty="0"/>
              <a:t>Set </a:t>
            </a:r>
            <a:r>
              <a:rPr lang="de-DE" dirty="0" err="1"/>
              <a:t>realistic</a:t>
            </a:r>
            <a:r>
              <a:rPr lang="de-DE" dirty="0"/>
              <a:t> </a:t>
            </a:r>
            <a:r>
              <a:rPr lang="de-DE" dirty="0" err="1"/>
              <a:t>goals</a:t>
            </a:r>
            <a:endParaRPr lang="de-DE" dirty="0"/>
          </a:p>
          <a:p>
            <a:pPr lvl="1">
              <a:lnSpc>
                <a:spcPct val="150000"/>
              </a:lnSpc>
            </a:pPr>
            <a:r>
              <a:rPr lang="de-DE" dirty="0"/>
              <a:t>Split large </a:t>
            </a:r>
            <a:r>
              <a:rPr lang="de-DE" dirty="0" err="1"/>
              <a:t>chapters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days</a:t>
            </a:r>
            <a:endParaRPr lang="de-DE" dirty="0"/>
          </a:p>
          <a:p>
            <a:pPr lvl="1">
              <a:lnSpc>
                <a:spcPct val="150000"/>
              </a:lnSpc>
            </a:pPr>
            <a:r>
              <a:rPr lang="de-DE" dirty="0"/>
              <a:t>Schedule time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proofreading</a:t>
            </a:r>
            <a:r>
              <a:rPr lang="de-DE" dirty="0"/>
              <a:t> and </a:t>
            </a:r>
            <a:r>
              <a:rPr lang="de-DE" dirty="0" err="1"/>
              <a:t>revisions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Incremental</a:t>
            </a:r>
            <a:r>
              <a:rPr lang="de-DE" dirty="0"/>
              <a:t> Writing</a:t>
            </a:r>
          </a:p>
          <a:p>
            <a:pPr marL="558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Write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bullet</a:t>
            </a:r>
            <a:r>
              <a:rPr lang="de-DE" dirty="0"/>
              <a:t> </a:t>
            </a:r>
            <a:r>
              <a:rPr lang="de-DE" dirty="0" err="1"/>
              <a:t>points</a:t>
            </a:r>
            <a:endParaRPr lang="de-DE" dirty="0"/>
          </a:p>
          <a:p>
            <a:pPr marL="558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Turn </a:t>
            </a:r>
            <a:r>
              <a:rPr lang="de-DE" dirty="0" err="1"/>
              <a:t>bullet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draft</a:t>
            </a:r>
          </a:p>
          <a:p>
            <a:pPr marL="558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formulations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Start </a:t>
            </a:r>
            <a:r>
              <a:rPr lang="de-DE" dirty="0" err="1"/>
              <a:t>with</a:t>
            </a:r>
            <a:r>
              <a:rPr lang="de-DE" dirty="0"/>
              <a:t> easy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motivating</a:t>
            </a:r>
            <a:r>
              <a:rPr lang="de-DE" dirty="0"/>
              <a:t> </a:t>
            </a:r>
            <a:r>
              <a:rPr lang="de-DE" dirty="0" err="1"/>
              <a:t>chapters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Writing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improves</a:t>
            </a:r>
            <a:r>
              <a:rPr lang="de-DE" dirty="0"/>
              <a:t> after </a:t>
            </a:r>
            <a:r>
              <a:rPr lang="de-DE" dirty="0" err="1"/>
              <a:t>starting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F8D2F6B-A008-3BE6-FCCC-9220EC293B85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dirty="0" err="1"/>
              <a:t>Temporary</a:t>
            </a:r>
            <a:r>
              <a:rPr lang="de-DE" dirty="0"/>
              <a:t> </a:t>
            </a:r>
            <a:r>
              <a:rPr lang="de-DE" dirty="0" err="1"/>
              <a:t>inability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despite</a:t>
            </a:r>
            <a:r>
              <a:rPr lang="de-DE" dirty="0"/>
              <a:t> </a:t>
            </a:r>
            <a:r>
              <a:rPr lang="de-DE" dirty="0" err="1"/>
              <a:t>intention</a:t>
            </a:r>
            <a:endParaRPr lang="de-DE" dirty="0"/>
          </a:p>
          <a:p>
            <a:r>
              <a:rPr lang="de-DE" dirty="0" err="1"/>
              <a:t>Difficulty</a:t>
            </a:r>
            <a:r>
              <a:rPr lang="de-DE" dirty="0"/>
              <a:t> </a:t>
            </a:r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continuing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r>
              <a:rPr lang="de-DE" dirty="0"/>
              <a:t>Lack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ideas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suitable</a:t>
            </a:r>
            <a:r>
              <a:rPr lang="de-DE" dirty="0"/>
              <a:t> </a:t>
            </a:r>
            <a:r>
              <a:rPr lang="de-DE" dirty="0" err="1"/>
              <a:t>wording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EF74B5F-FB40-FE22-D15D-3FE56D6D86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Grafik 11" descr="Tageskalender Silhouette">
            <a:extLst>
              <a:ext uri="{FF2B5EF4-FFF2-40B4-BE49-F238E27FC236}">
                <a16:creationId xmlns:a16="http://schemas.microsoft.com/office/drawing/2014/main" id="{2EE60C0A-3FBE-67C9-BDDE-33C1CD6CF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4800" y="1327465"/>
            <a:ext cx="720000" cy="720000"/>
          </a:xfrm>
          <a:prstGeom prst="rect">
            <a:avLst/>
          </a:prstGeom>
        </p:spPr>
      </p:pic>
      <p:pic>
        <p:nvPicPr>
          <p:cNvPr id="16" name="Grafik 15" descr="Pfeil mit einer Linie: Nach rechts drehen Silhouette">
            <a:extLst>
              <a:ext uri="{FF2B5EF4-FFF2-40B4-BE49-F238E27FC236}">
                <a16:creationId xmlns:a16="http://schemas.microsoft.com/office/drawing/2014/main" id="{8131B953-9C4D-6C00-504C-6EFBF682C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4800" y="3243225"/>
            <a:ext cx="720000" cy="720000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0F4D39EC-D6A2-7470-C34F-D0C6363A6FE9}"/>
              </a:ext>
            </a:extLst>
          </p:cNvPr>
          <p:cNvGrpSpPr>
            <a:grpSpLocks noChangeAspect="1"/>
          </p:cNvGrpSpPr>
          <p:nvPr/>
        </p:nvGrpSpPr>
        <p:grpSpPr>
          <a:xfrm>
            <a:off x="2404800" y="2883225"/>
            <a:ext cx="1440000" cy="1440000"/>
            <a:chOff x="2280000" y="4115625"/>
            <a:chExt cx="1080000" cy="1080000"/>
          </a:xfrm>
        </p:grpSpPr>
        <p:pic>
          <p:nvPicPr>
            <p:cNvPr id="22" name="Inhaltsplatzhalter 7" descr="Stift Silhouette">
              <a:extLst>
                <a:ext uri="{FF2B5EF4-FFF2-40B4-BE49-F238E27FC236}">
                  <a16:creationId xmlns:a16="http://schemas.microsoft.com/office/drawing/2014/main" id="{F8D99CB2-E9E2-ECD8-23EB-DE25D30BB6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62800" y="4197737"/>
              <a:ext cx="914400" cy="914400"/>
            </a:xfrm>
            <a:prstGeom prst="rect">
              <a:avLst/>
            </a:prstGeom>
          </p:spPr>
        </p:pic>
        <p:pic>
          <p:nvPicPr>
            <p:cNvPr id="23" name="Inhaltsplatzhalter 20" descr="Verbotsschild Silhouette">
              <a:extLst>
                <a:ext uri="{FF2B5EF4-FFF2-40B4-BE49-F238E27FC236}">
                  <a16:creationId xmlns:a16="http://schemas.microsoft.com/office/drawing/2014/main" id="{BBE4B8FC-8372-5F72-83FF-C51DC8FBE8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0000" y="4115625"/>
              <a:ext cx="1080000" cy="1080000"/>
            </a:xfrm>
            <a:prstGeom prst="rect">
              <a:avLst/>
            </a:prstGeom>
          </p:spPr>
        </p:pic>
      </p:grp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56717D36-FD7E-4D16-8A9E-E3E5BA54256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308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0A49C7F-469D-981E-8C9B-4B6A657A60F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 err="1"/>
              <a:t>Cite</a:t>
            </a:r>
            <a:r>
              <a:rPr lang="de-DE" dirty="0"/>
              <a:t> all non-original </a:t>
            </a:r>
            <a:r>
              <a:rPr lang="de-DE" dirty="0" err="1"/>
              <a:t>content</a:t>
            </a:r>
            <a:endParaRPr lang="de-DE" dirty="0"/>
          </a:p>
          <a:p>
            <a:r>
              <a:rPr lang="de-DE" dirty="0"/>
              <a:t>Reasons:</a:t>
            </a:r>
          </a:p>
          <a:p>
            <a:pPr lvl="1"/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plagiarism</a:t>
            </a:r>
            <a:endParaRPr lang="de-DE" dirty="0"/>
          </a:p>
          <a:p>
            <a:pPr lvl="1"/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violating</a:t>
            </a:r>
            <a:r>
              <a:rPr lang="de-DE" dirty="0"/>
              <a:t> </a:t>
            </a:r>
            <a:r>
              <a:rPr lang="de-DE" dirty="0" err="1"/>
              <a:t>intellectual</a:t>
            </a:r>
            <a:r>
              <a:rPr lang="de-DE" dirty="0"/>
              <a:t> </a:t>
            </a:r>
            <a:r>
              <a:rPr lang="de-DE" dirty="0" err="1"/>
              <a:t>property</a:t>
            </a:r>
            <a:endParaRPr lang="de-DE" dirty="0"/>
          </a:p>
          <a:p>
            <a:pPr lvl="1"/>
            <a:r>
              <a:rPr lang="de-DE" dirty="0"/>
              <a:t>separate own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prior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  <a:p>
            <a:pPr lvl="1"/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credibility</a:t>
            </a:r>
            <a:r>
              <a:rPr lang="de-DE" dirty="0"/>
              <a:t> and 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access</a:t>
            </a:r>
            <a:endParaRPr lang="de-DE" dirty="0"/>
          </a:p>
          <a:p>
            <a:r>
              <a:rPr lang="de-DE" dirty="0"/>
              <a:t>Two </a:t>
            </a:r>
            <a:r>
              <a:rPr lang="de-DE" dirty="0" err="1"/>
              <a:t>components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citation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in-text </a:t>
            </a:r>
            <a:r>
              <a:rPr lang="de-DE" dirty="0" err="1"/>
              <a:t>citation</a:t>
            </a:r>
            <a:r>
              <a:rPr lang="de-DE" dirty="0"/>
              <a:t> after </a:t>
            </a:r>
            <a:r>
              <a:rPr lang="de-DE" dirty="0" err="1"/>
              <a:t>quote</a:t>
            </a:r>
            <a:r>
              <a:rPr lang="de-DE" dirty="0"/>
              <a:t>/ </a:t>
            </a:r>
            <a:r>
              <a:rPr lang="de-DE" dirty="0" err="1"/>
              <a:t>paraphrase</a:t>
            </a:r>
            <a:endParaRPr lang="de-DE" dirty="0"/>
          </a:p>
          <a:p>
            <a:pPr lvl="1"/>
            <a:r>
              <a:rPr lang="de-DE" dirty="0" err="1"/>
              <a:t>bibliography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clearly</a:t>
            </a:r>
            <a:r>
              <a:rPr lang="de-DE" dirty="0"/>
              <a:t> </a:t>
            </a: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r>
              <a:rPr lang="de-DE" dirty="0"/>
              <a:t>Format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citation</a:t>
            </a:r>
            <a:r>
              <a:rPr lang="de-DE" dirty="0"/>
              <a:t> style </a:t>
            </a:r>
            <a:r>
              <a:rPr lang="de-DE" dirty="0">
                <a:solidFill>
                  <a:schemeClr val="accent5"/>
                </a:solidFill>
              </a:rPr>
              <a:t>(</a:t>
            </a:r>
            <a:r>
              <a:rPr lang="de-DE" dirty="0" err="1">
                <a:solidFill>
                  <a:schemeClr val="accent5"/>
                </a:solidFill>
              </a:rPr>
              <a:t>provided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by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template</a:t>
            </a:r>
            <a:r>
              <a:rPr lang="de-DE" dirty="0">
                <a:solidFill>
                  <a:schemeClr val="accent5"/>
                </a:solidFill>
              </a:rPr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93656E-E26B-5898-BE3F-75CAD906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Citing</a:t>
            </a:r>
            <a:r>
              <a:rPr lang="de-DE" dirty="0"/>
              <a:t> </a:t>
            </a:r>
            <a:r>
              <a:rPr lang="de-DE" dirty="0" err="1"/>
              <a:t>Properly</a:t>
            </a:r>
            <a:endParaRPr lang="de-DE" dirty="0"/>
          </a:p>
        </p:txBody>
      </p:sp>
      <p:pic>
        <p:nvPicPr>
          <p:cNvPr id="7" name="Inhaltsplatzhalter 6" descr="Anführungszeichen Silhouette">
            <a:extLst>
              <a:ext uri="{FF2B5EF4-FFF2-40B4-BE49-F238E27FC236}">
                <a16:creationId xmlns:a16="http://schemas.microsoft.com/office/drawing/2014/main" id="{928D255E-F050-D940-B265-878890F3209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4800" y="1541894"/>
            <a:ext cx="1440000" cy="1440000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6409727-9F64-2C27-D52D-508F30B59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1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D835557-C610-BDE1-54C5-76CE80C8185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7037" y="1016000"/>
            <a:ext cx="5580000" cy="315664"/>
          </a:xfrm>
        </p:spPr>
        <p:txBody>
          <a:bodyPr/>
          <a:lstStyle/>
          <a:p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Citation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C7CB9D-8BB4-C8FB-D966-5940E1DC3BB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1016000"/>
            <a:ext cx="5580000" cy="315664"/>
          </a:xfrm>
        </p:spPr>
        <p:txBody>
          <a:bodyPr/>
          <a:lstStyle/>
          <a:p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Citation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8C5990E-6CF6-EAA7-0624-B7EB4BCA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Citing</a:t>
            </a:r>
            <a:r>
              <a:rPr lang="de-DE" dirty="0"/>
              <a:t> </a:t>
            </a:r>
            <a:r>
              <a:rPr lang="de-DE" dirty="0" err="1"/>
              <a:t>Properly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445B3DC-0814-7F3D-5BC0-2140119C952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A4F3E5-3F31-3FBC-7482-1DA278D2EAE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7037" y="1473200"/>
            <a:ext cx="5580000" cy="4261650"/>
          </a:xfrm>
        </p:spPr>
        <p:txBody>
          <a:bodyPr/>
          <a:lstStyle/>
          <a:p>
            <a:r>
              <a:rPr lang="de-DE" dirty="0"/>
              <a:t>Content </a:t>
            </a:r>
            <a:r>
              <a:rPr lang="de-DE" dirty="0" err="1"/>
              <a:t>rewritten</a:t>
            </a:r>
            <a:r>
              <a:rPr lang="de-DE" dirty="0"/>
              <a:t> in own </a:t>
            </a:r>
            <a:r>
              <a:rPr lang="de-DE" dirty="0" err="1"/>
              <a:t>words</a:t>
            </a:r>
            <a:endParaRPr lang="de-DE" dirty="0"/>
          </a:p>
          <a:p>
            <a:r>
              <a:rPr lang="de-DE" dirty="0" err="1"/>
              <a:t>Must</a:t>
            </a:r>
            <a:r>
              <a:rPr lang="de-DE" dirty="0"/>
              <a:t> not </a:t>
            </a:r>
            <a:r>
              <a:rPr lang="de-DE" dirty="0" err="1"/>
              <a:t>stay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original </a:t>
            </a:r>
            <a:r>
              <a:rPr lang="de-DE" dirty="0" err="1"/>
              <a:t>wording</a:t>
            </a:r>
            <a:endParaRPr lang="de-DE" dirty="0"/>
          </a:p>
          <a:p>
            <a:r>
              <a:rPr lang="de-DE" dirty="0"/>
              <a:t>Simple </a:t>
            </a:r>
            <a:r>
              <a:rPr lang="de-DE" dirty="0" err="1"/>
              <a:t>reordering</a:t>
            </a:r>
            <a:r>
              <a:rPr lang="de-DE" dirty="0"/>
              <a:t> ≠ </a:t>
            </a: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citation</a:t>
            </a:r>
            <a:endParaRPr lang="de-DE" dirty="0"/>
          </a:p>
          <a:p>
            <a:r>
              <a:rPr lang="de-DE" dirty="0" err="1"/>
              <a:t>Entire</a:t>
            </a:r>
            <a:r>
              <a:rPr lang="de-DE" dirty="0"/>
              <a:t> </a:t>
            </a:r>
            <a:r>
              <a:rPr lang="de-DE" dirty="0" err="1"/>
              <a:t>paragraph</a:t>
            </a:r>
            <a:r>
              <a:rPr lang="de-DE" dirty="0"/>
              <a:t> </a:t>
            </a:r>
            <a:r>
              <a:rPr lang="de-DE" dirty="0" err="1"/>
              <a:t>quoted</a:t>
            </a:r>
            <a:r>
              <a:rPr lang="de-DE" dirty="0"/>
              <a:t>: </a:t>
            </a:r>
            <a:r>
              <a:rPr lang="de-DE" dirty="0" err="1"/>
              <a:t>reference</a:t>
            </a:r>
            <a:r>
              <a:rPr lang="de-DE" dirty="0"/>
              <a:t> after </a:t>
            </a:r>
            <a:r>
              <a:rPr lang="de-DE" dirty="0" err="1"/>
              <a:t>period</a:t>
            </a:r>
            <a:endParaRPr lang="de-DE" dirty="0"/>
          </a:p>
          <a:p>
            <a:r>
              <a:rPr lang="de-DE" dirty="0"/>
              <a:t>Only last </a:t>
            </a:r>
            <a:r>
              <a:rPr lang="de-DE" dirty="0" err="1"/>
              <a:t>sentenced</a:t>
            </a:r>
            <a:r>
              <a:rPr lang="de-DE" dirty="0"/>
              <a:t> </a:t>
            </a:r>
            <a:r>
              <a:rPr lang="de-DE" dirty="0" err="1"/>
              <a:t>quoted</a:t>
            </a:r>
            <a:r>
              <a:rPr lang="de-DE" dirty="0"/>
              <a:t>: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period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5180A9D-CE0B-76CB-8A0C-304E1A8FB06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4800" y="1473200"/>
            <a:ext cx="5580000" cy="4261650"/>
          </a:xfrm>
        </p:spPr>
        <p:txBody>
          <a:bodyPr/>
          <a:lstStyle/>
          <a:p>
            <a:r>
              <a:rPr lang="de-DE" dirty="0"/>
              <a:t>Word-</a:t>
            </a:r>
            <a:r>
              <a:rPr lang="de-DE" dirty="0" err="1"/>
              <a:t>for</a:t>
            </a:r>
            <a:r>
              <a:rPr lang="de-DE" dirty="0"/>
              <a:t>-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quotation</a:t>
            </a:r>
            <a:r>
              <a:rPr lang="de-DE" dirty="0"/>
              <a:t> in </a:t>
            </a:r>
            <a:r>
              <a:rPr lang="de-DE" dirty="0" err="1"/>
              <a:t>quotation</a:t>
            </a:r>
            <a:r>
              <a:rPr lang="de-DE" dirty="0"/>
              <a:t> </a:t>
            </a:r>
            <a:r>
              <a:rPr lang="de-DE" dirty="0" err="1"/>
              <a:t>marks</a:t>
            </a:r>
            <a:endParaRPr lang="de-DE" dirty="0"/>
          </a:p>
          <a:p>
            <a:r>
              <a:rPr lang="de-DE" dirty="0"/>
              <a:t>Source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immediately</a:t>
            </a:r>
            <a:r>
              <a:rPr lang="de-DE" dirty="0"/>
              <a:t> after </a:t>
            </a:r>
            <a:r>
              <a:rPr lang="de-DE" dirty="0" err="1"/>
              <a:t>quote</a:t>
            </a:r>
            <a:endParaRPr lang="de-DE" dirty="0"/>
          </a:p>
          <a:p>
            <a:r>
              <a:rPr lang="de-DE" dirty="0"/>
              <a:t>Single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omissions</a:t>
            </a:r>
            <a:r>
              <a:rPr lang="de-DE" dirty="0"/>
              <a:t> </a:t>
            </a:r>
            <a:r>
              <a:rPr lang="de-DE" dirty="0" err="1"/>
              <a:t>marked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[..]</a:t>
            </a:r>
          </a:p>
          <a:p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omitted</a:t>
            </a:r>
            <a:r>
              <a:rPr lang="de-DE" dirty="0"/>
              <a:t> </a:t>
            </a:r>
            <a:r>
              <a:rPr lang="de-DE" dirty="0" err="1"/>
              <a:t>words</a:t>
            </a:r>
            <a:r>
              <a:rPr lang="de-DE" dirty="0"/>
              <a:t> </a:t>
            </a:r>
            <a:r>
              <a:rPr lang="de-DE" dirty="0" err="1"/>
              <a:t>marked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[...]</a:t>
            </a:r>
          </a:p>
          <a:p>
            <a:r>
              <a:rPr lang="de-DE" dirty="0" err="1"/>
              <a:t>Additions</a:t>
            </a:r>
            <a:r>
              <a:rPr lang="de-DE" dirty="0"/>
              <a:t> </a:t>
            </a:r>
            <a:r>
              <a:rPr lang="de-DE" dirty="0" err="1"/>
              <a:t>marked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addition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de-DE" dirty="0"/>
              <a:t>Use </a:t>
            </a:r>
            <a:r>
              <a:rPr lang="de-DE" dirty="0" err="1"/>
              <a:t>rarely</a:t>
            </a:r>
            <a:r>
              <a:rPr lang="de-DE" dirty="0"/>
              <a:t> in </a:t>
            </a:r>
            <a:r>
              <a:rPr lang="de-DE" dirty="0" err="1"/>
              <a:t>computer</a:t>
            </a:r>
            <a:r>
              <a:rPr lang="de-DE" dirty="0"/>
              <a:t> </a:t>
            </a:r>
            <a:r>
              <a:rPr lang="de-DE" dirty="0" err="1"/>
              <a:t>science</a:t>
            </a:r>
            <a:endParaRPr lang="de-DE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86BB0F0-FA1A-ABE3-E2D1-B580545D1B19}"/>
              </a:ext>
            </a:extLst>
          </p:cNvPr>
          <p:cNvSpPr txBox="1">
            <a:spLocks/>
          </p:cNvSpPr>
          <p:nvPr/>
        </p:nvSpPr>
        <p:spPr>
          <a:xfrm flipV="1">
            <a:off x="334962" y="5277650"/>
            <a:ext cx="11519837" cy="1797326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SF Pro Semibold" pitchFamily="2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i="1" dirty="0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2A6FDDBA-8854-47F9-C6C0-C838F86EB80B}"/>
              </a:ext>
            </a:extLst>
          </p:cNvPr>
          <p:cNvSpPr/>
          <p:nvPr/>
        </p:nvSpPr>
        <p:spPr>
          <a:xfrm>
            <a:off x="334963" y="4061577"/>
            <a:ext cx="5579837" cy="814028"/>
          </a:xfrm>
          <a:prstGeom prst="roundRect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"[The] </a:t>
            </a:r>
            <a:r>
              <a:rPr lang="de-DE" i="1" dirty="0" err="1">
                <a:solidFill>
                  <a:schemeClr val="tx1"/>
                </a:solidFill>
              </a:rPr>
              <a:t>method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shows</a:t>
            </a:r>
            <a:r>
              <a:rPr lang="de-DE" i="1" dirty="0">
                <a:solidFill>
                  <a:schemeClr val="tx1"/>
                </a:solidFill>
              </a:rPr>
              <a:t> a [...] </a:t>
            </a:r>
            <a:r>
              <a:rPr lang="de-DE" i="1" dirty="0" err="1">
                <a:solidFill>
                  <a:schemeClr val="tx1"/>
                </a:solidFill>
              </a:rPr>
              <a:t>reduction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error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sum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squares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5%." [1]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CF419EC-F854-2B90-970B-9FD072F87C6D}"/>
              </a:ext>
            </a:extLst>
          </p:cNvPr>
          <p:cNvSpPr/>
          <p:nvPr/>
        </p:nvSpPr>
        <p:spPr>
          <a:xfrm>
            <a:off x="6277201" y="4061577"/>
            <a:ext cx="5579837" cy="814028"/>
          </a:xfrm>
          <a:prstGeom prst="roundRect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Property XY </a:t>
            </a:r>
            <a:r>
              <a:rPr lang="de-DE" i="1" dirty="0" err="1">
                <a:solidFill>
                  <a:schemeClr val="tx1"/>
                </a:solidFill>
              </a:rPr>
              <a:t>can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reduce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error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sum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squares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by</a:t>
            </a:r>
            <a:r>
              <a:rPr lang="de-DE" i="1" dirty="0">
                <a:solidFill>
                  <a:schemeClr val="tx1"/>
                </a:solidFill>
              </a:rPr>
              <a:t> 5%. [1]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0992A6CF-1BB6-B9C1-6E3A-9351CB7FBA4F}"/>
              </a:ext>
            </a:extLst>
          </p:cNvPr>
          <p:cNvSpPr/>
          <p:nvPr/>
        </p:nvSpPr>
        <p:spPr>
          <a:xfrm>
            <a:off x="337202" y="5073256"/>
            <a:ext cx="11519836" cy="814028"/>
          </a:xfrm>
          <a:prstGeom prst="roundRect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Original: </a:t>
            </a:r>
            <a:r>
              <a:rPr lang="de-DE" i="1" dirty="0">
                <a:solidFill>
                  <a:schemeClr val="tx1"/>
                </a:solidFill>
              </a:rPr>
              <a:t>"</a:t>
            </a:r>
            <a:r>
              <a:rPr lang="de-DE" i="1" dirty="0" err="1">
                <a:solidFill>
                  <a:schemeClr val="tx1"/>
                </a:solidFill>
              </a:rPr>
              <a:t>Our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method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shows</a:t>
            </a:r>
            <a:r>
              <a:rPr lang="de-DE" i="1" dirty="0">
                <a:solidFill>
                  <a:schemeClr val="tx1"/>
                </a:solidFill>
              </a:rPr>
              <a:t> a </a:t>
            </a:r>
            <a:r>
              <a:rPr lang="de-DE" i="1" dirty="0" err="1">
                <a:solidFill>
                  <a:schemeClr val="tx1"/>
                </a:solidFill>
              </a:rPr>
              <a:t>significant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reduction</a:t>
            </a:r>
            <a:r>
              <a:rPr lang="de-DE" i="1" dirty="0">
                <a:solidFill>
                  <a:schemeClr val="tx1"/>
                </a:solidFill>
              </a:rPr>
              <a:t> in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error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sum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squares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5%. This </a:t>
            </a:r>
            <a:r>
              <a:rPr lang="de-DE" i="1" dirty="0" err="1">
                <a:solidFill>
                  <a:schemeClr val="tx1"/>
                </a:solidFill>
              </a:rPr>
              <a:t>is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mainly</a:t>
            </a:r>
            <a:r>
              <a:rPr lang="de-DE" i="1" dirty="0">
                <a:solidFill>
                  <a:schemeClr val="tx1"/>
                </a:solidFill>
              </a:rPr>
              <a:t> due </a:t>
            </a:r>
            <a:r>
              <a:rPr lang="de-DE" i="1" dirty="0" err="1">
                <a:solidFill>
                  <a:schemeClr val="tx1"/>
                </a:solidFill>
              </a:rPr>
              <a:t>to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property</a:t>
            </a:r>
            <a:r>
              <a:rPr lang="de-DE" i="1" dirty="0">
                <a:solidFill>
                  <a:schemeClr val="tx1"/>
                </a:solidFill>
              </a:rPr>
              <a:t> XY."</a:t>
            </a:r>
          </a:p>
        </p:txBody>
      </p:sp>
    </p:spTree>
    <p:extLst>
      <p:ext uri="{BB962C8B-B14F-4D97-AF65-F5344CB8AC3E}">
        <p14:creationId xmlns:p14="http://schemas.microsoft.com/office/powerpoint/2010/main" val="264951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3E29031-D960-2004-15ED-CAAE3BA326F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DE" dirty="0"/>
              <a:t>Et al.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64F219-7F67-008E-511A-20C342E502B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Sources vs. </a:t>
            </a:r>
            <a:r>
              <a:rPr lang="de-DE" dirty="0" err="1"/>
              <a:t>Footnotes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8C3293-FF8E-A7F6-BD6A-D7CE6803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Citing</a:t>
            </a:r>
            <a:r>
              <a:rPr lang="de-DE" dirty="0"/>
              <a:t> </a:t>
            </a:r>
            <a:r>
              <a:rPr lang="de-DE" dirty="0" err="1"/>
              <a:t>Properly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0E80F5B-A2FB-04BA-7034-A9B87659948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C28382-9F3C-9B46-7553-A74164E93D3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Many </a:t>
            </a:r>
            <a:r>
              <a:rPr lang="de-DE" dirty="0" err="1"/>
              <a:t>publications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multiple </a:t>
            </a:r>
            <a:r>
              <a:rPr lang="de-DE" dirty="0" err="1"/>
              <a:t>authors</a:t>
            </a:r>
            <a:endParaRPr lang="de-DE" dirty="0"/>
          </a:p>
          <a:p>
            <a:r>
              <a:rPr lang="de-DE" dirty="0"/>
              <a:t>“et al.” = “and </a:t>
            </a:r>
            <a:r>
              <a:rPr lang="de-DE" dirty="0" err="1"/>
              <a:t>others</a:t>
            </a:r>
            <a:r>
              <a:rPr lang="de-DE" dirty="0"/>
              <a:t>” (</a:t>
            </a:r>
            <a:r>
              <a:rPr lang="de-DE" dirty="0" err="1"/>
              <a:t>Latin</a:t>
            </a:r>
            <a:r>
              <a:rPr lang="de-DE" dirty="0"/>
              <a:t>: et alii)</a:t>
            </a:r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shorten</a:t>
            </a:r>
            <a:r>
              <a:rPr lang="de-DE" dirty="0"/>
              <a:t> </a:t>
            </a:r>
            <a:r>
              <a:rPr lang="de-DE" dirty="0" err="1"/>
              <a:t>author</a:t>
            </a:r>
            <a:r>
              <a:rPr lang="de-DE" dirty="0"/>
              <a:t> </a:t>
            </a:r>
            <a:r>
              <a:rPr lang="de-DE" dirty="0" err="1"/>
              <a:t>lists</a:t>
            </a:r>
            <a:r>
              <a:rPr lang="de-DE" dirty="0"/>
              <a:t> in </a:t>
            </a:r>
            <a:r>
              <a:rPr lang="de-DE" dirty="0" err="1"/>
              <a:t>text</a:t>
            </a:r>
            <a:endParaRPr lang="de-DE" dirty="0"/>
          </a:p>
          <a:p>
            <a:r>
              <a:rPr lang="de-DE" dirty="0"/>
              <a:t>Usually </a:t>
            </a:r>
            <a:r>
              <a:rPr lang="de-DE" dirty="0" err="1"/>
              <a:t>applied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3+ </a:t>
            </a:r>
            <a:r>
              <a:rPr lang="de-DE" dirty="0" err="1"/>
              <a:t>authors</a:t>
            </a:r>
            <a:r>
              <a:rPr lang="de-DE" dirty="0"/>
              <a:t> (style-</a:t>
            </a:r>
            <a:r>
              <a:rPr lang="de-DE" dirty="0" err="1"/>
              <a:t>dependent</a:t>
            </a:r>
            <a:r>
              <a:rPr lang="de-DE" dirty="0"/>
              <a:t>)</a:t>
            </a:r>
          </a:p>
          <a:p>
            <a:r>
              <a:rPr lang="de-DE" dirty="0"/>
              <a:t>Always plural → “et al. </a:t>
            </a:r>
            <a:r>
              <a:rPr lang="de-DE" dirty="0" err="1"/>
              <a:t>describe</a:t>
            </a:r>
            <a:r>
              <a:rPr lang="de-DE" dirty="0"/>
              <a:t>” (not “</a:t>
            </a:r>
            <a:r>
              <a:rPr lang="de-DE" dirty="0" err="1"/>
              <a:t>describes</a:t>
            </a:r>
            <a:r>
              <a:rPr lang="de-DE" dirty="0"/>
              <a:t>”)</a:t>
            </a:r>
          </a:p>
          <a:p>
            <a:r>
              <a:rPr lang="de-DE" dirty="0"/>
              <a:t>Only </a:t>
            </a:r>
            <a:r>
              <a:rPr lang="de-DE" dirty="0" err="1"/>
              <a:t>used</a:t>
            </a:r>
            <a:r>
              <a:rPr lang="de-DE" dirty="0"/>
              <a:t> in in-text </a:t>
            </a:r>
            <a:r>
              <a:rPr lang="de-DE" dirty="0" err="1"/>
              <a:t>citations</a:t>
            </a:r>
            <a:endParaRPr lang="de-DE" dirty="0"/>
          </a:p>
          <a:p>
            <a:r>
              <a:rPr lang="de-DE" dirty="0"/>
              <a:t>All </a:t>
            </a:r>
            <a:r>
              <a:rPr lang="de-DE" dirty="0" err="1"/>
              <a:t>authors</a:t>
            </a:r>
            <a:r>
              <a:rPr lang="de-DE" dirty="0"/>
              <a:t> </a:t>
            </a:r>
            <a:r>
              <a:rPr lang="de-DE" dirty="0" err="1"/>
              <a:t>listed</a:t>
            </a:r>
            <a:r>
              <a:rPr lang="de-DE" dirty="0"/>
              <a:t> in </a:t>
            </a:r>
            <a:r>
              <a:rPr lang="de-DE" dirty="0" err="1"/>
              <a:t>bibliography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98C913F-7A5E-C405-FBA0-21EC3A37283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dirty="0"/>
              <a:t>Source</a:t>
            </a:r>
          </a:p>
          <a:p>
            <a:pPr lvl="1"/>
            <a:r>
              <a:rPr lang="de-DE" dirty="0"/>
              <a:t>Information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  <a:p>
            <a:pPr lvl="1"/>
            <a:r>
              <a:rPr lang="de-DE" dirty="0"/>
              <a:t>Integrated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argument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cited</a:t>
            </a:r>
            <a:r>
              <a:rPr lang="de-DE" dirty="0"/>
              <a:t> in-text</a:t>
            </a:r>
          </a:p>
          <a:p>
            <a:r>
              <a:rPr lang="de-DE" dirty="0" err="1"/>
              <a:t>Footnote</a:t>
            </a:r>
            <a:endParaRPr lang="de-DE" dirty="0"/>
          </a:p>
          <a:p>
            <a:pPr lvl="1"/>
            <a:r>
              <a:rPr lang="de-DE" dirty="0"/>
              <a:t>Additional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explanatory</a:t>
            </a:r>
            <a:r>
              <a:rPr lang="de-DE" dirty="0"/>
              <a:t> </a:t>
            </a:r>
            <a:r>
              <a:rPr lang="de-DE" dirty="0" err="1"/>
              <a:t>information</a:t>
            </a:r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argument</a:t>
            </a:r>
            <a:endParaRPr lang="de-DE" dirty="0"/>
          </a:p>
          <a:p>
            <a:pPr lvl="1"/>
            <a:r>
              <a:rPr lang="de-DE" dirty="0" err="1"/>
              <a:t>Provides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clarification</a:t>
            </a:r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core</a:t>
            </a:r>
            <a:r>
              <a:rPr lang="de-DE" dirty="0"/>
              <a:t> </a:t>
            </a:r>
            <a:r>
              <a:rPr lang="de-DE" dirty="0" err="1"/>
              <a:t>evidence</a:t>
            </a:r>
            <a:endParaRPr lang="de-DE" dirty="0"/>
          </a:p>
          <a:p>
            <a:r>
              <a:rPr lang="de-DE" dirty="0" err="1"/>
              <a:t>Exception</a:t>
            </a:r>
            <a:endParaRPr lang="de-DE" dirty="0"/>
          </a:p>
          <a:p>
            <a:pPr lvl="1"/>
            <a:r>
              <a:rPr lang="de-DE" dirty="0" err="1"/>
              <a:t>Citation</a:t>
            </a:r>
            <a:r>
              <a:rPr lang="de-DE" dirty="0"/>
              <a:t> </a:t>
            </a:r>
            <a:r>
              <a:rPr lang="de-DE" dirty="0" err="1"/>
              <a:t>styles</a:t>
            </a:r>
            <a:r>
              <a:rPr lang="de-DE" dirty="0"/>
              <a:t> like Chicago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footnotes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4FEE603-F223-95FF-3972-C58C7DC755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6" descr="Anführungszeichen Silhouette">
            <a:extLst>
              <a:ext uri="{FF2B5EF4-FFF2-40B4-BE49-F238E27FC236}">
                <a16:creationId xmlns:a16="http://schemas.microsoft.com/office/drawing/2014/main" id="{9DAE421F-FDFF-2EEC-2CFD-122FEFC22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4800" y="4083616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77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59594B4-9F3D-329F-3160-0C06764C299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>
                <a:solidFill>
                  <a:schemeClr val="tx2"/>
                </a:solidFill>
              </a:rPr>
              <a:t>Citation</a:t>
            </a:r>
            <a:r>
              <a:rPr lang="de-DE" b="1" dirty="0">
                <a:solidFill>
                  <a:schemeClr val="tx2"/>
                </a:solidFill>
              </a:rPr>
              <a:t> Styles</a:t>
            </a:r>
          </a:p>
          <a:p>
            <a:r>
              <a:rPr lang="de-DE" dirty="0" err="1"/>
              <a:t>Specified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template</a:t>
            </a:r>
            <a:endParaRPr lang="de-DE" dirty="0"/>
          </a:p>
          <a:p>
            <a:pPr marL="0" indent="0">
              <a:buNone/>
            </a:pP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b="1" dirty="0" err="1">
                <a:solidFill>
                  <a:schemeClr val="tx2"/>
                </a:solidFill>
              </a:rPr>
              <a:t>Citing</a:t>
            </a:r>
            <a:r>
              <a:rPr lang="de-DE" b="1" dirty="0">
                <a:solidFill>
                  <a:schemeClr val="tx2"/>
                </a:solidFill>
              </a:rPr>
              <a:t> Websites</a:t>
            </a:r>
          </a:p>
          <a:p>
            <a:r>
              <a:rPr lang="de-DE" dirty="0"/>
              <a:t>Include </a:t>
            </a:r>
            <a:r>
              <a:rPr lang="de-DE" dirty="0" err="1"/>
              <a:t>author</a:t>
            </a:r>
            <a:r>
              <a:rPr lang="de-DE" dirty="0"/>
              <a:t>, title, and </a:t>
            </a:r>
            <a:r>
              <a:rPr lang="de-DE" dirty="0" err="1"/>
              <a:t>publication</a:t>
            </a:r>
            <a:r>
              <a:rPr lang="de-DE" dirty="0"/>
              <a:t> date (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)</a:t>
            </a:r>
          </a:p>
          <a:p>
            <a:r>
              <a:rPr lang="de-DE" dirty="0"/>
              <a:t>Add URL and </a:t>
            </a:r>
            <a:r>
              <a:rPr lang="de-DE" dirty="0" err="1"/>
              <a:t>access</a:t>
            </a:r>
            <a:r>
              <a:rPr lang="de-DE" dirty="0"/>
              <a:t>/</a:t>
            </a:r>
            <a:r>
              <a:rPr lang="de-DE" dirty="0" err="1"/>
              <a:t>visit</a:t>
            </a:r>
            <a:r>
              <a:rPr lang="de-DE" dirty="0"/>
              <a:t> date</a:t>
            </a:r>
          </a:p>
          <a:p>
            <a:r>
              <a:rPr lang="de-DE" dirty="0"/>
              <a:t>Access date </a:t>
            </a:r>
            <a:r>
              <a:rPr lang="de-DE" dirty="0" err="1"/>
              <a:t>required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possible </a:t>
            </a:r>
            <a:r>
              <a:rPr lang="de-DE" dirty="0" err="1"/>
              <a:t>changes</a:t>
            </a:r>
            <a:endParaRPr lang="de-DE" dirty="0"/>
          </a:p>
          <a:p>
            <a:r>
              <a:rPr lang="de-DE" dirty="0"/>
              <a:t>Use </a:t>
            </a:r>
            <a:r>
              <a:rPr lang="de-DE" dirty="0" err="1"/>
              <a:t>organization</a:t>
            </a:r>
            <a:r>
              <a:rPr lang="de-DE" dirty="0"/>
              <a:t>/</a:t>
            </a:r>
            <a:r>
              <a:rPr lang="de-DE" dirty="0" err="1"/>
              <a:t>company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author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person</a:t>
            </a:r>
            <a:r>
              <a:rPr lang="de-DE" dirty="0"/>
              <a:t> </a:t>
            </a:r>
            <a:r>
              <a:rPr lang="de-DE" dirty="0" err="1"/>
              <a:t>listed</a:t>
            </a:r>
            <a:endParaRPr lang="de-DE" dirty="0"/>
          </a:p>
          <a:p>
            <a:r>
              <a:rPr lang="de-DE" dirty="0"/>
              <a:t>Use HTML </a:t>
            </a:r>
            <a:r>
              <a:rPr lang="de-DE" dirty="0" err="1"/>
              <a:t>page</a:t>
            </a:r>
            <a:r>
              <a:rPr lang="de-DE" dirty="0"/>
              <a:t> title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title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given</a:t>
            </a:r>
            <a:endParaRPr lang="de-DE" dirty="0"/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C599034-B3B0-46D3-9F6A-76585D44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Citing</a:t>
            </a:r>
            <a:r>
              <a:rPr lang="de-DE" dirty="0"/>
              <a:t> </a:t>
            </a:r>
            <a:r>
              <a:rPr lang="de-DE" dirty="0" err="1"/>
              <a:t>Properly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538B25C5-79F3-ED57-8154-0ABC80CD5CB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320" y="1651986"/>
            <a:ext cx="8065480" cy="1997375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3A51F3-C6E6-A7C2-D020-738DFA715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FA65E9C-3CBB-8431-608A-2EFB0A8FC2BF}"/>
              </a:ext>
            </a:extLst>
          </p:cNvPr>
          <p:cNvSpPr txBox="1"/>
          <p:nvPr/>
        </p:nvSpPr>
        <p:spPr>
          <a:xfrm>
            <a:off x="6656173" y="128265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tx2"/>
                </a:solidFill>
              </a:rPr>
              <a:t>IEEE</a:t>
            </a:r>
          </a:p>
        </p:txBody>
      </p:sp>
    </p:spTree>
    <p:extLst>
      <p:ext uri="{BB962C8B-B14F-4D97-AF65-F5344CB8AC3E}">
        <p14:creationId xmlns:p14="http://schemas.microsoft.com/office/powerpoint/2010/main" val="122907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5035DFF-84E2-D8B5-C0CE-242F57C1699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DE" dirty="0"/>
              <a:t>Text </a:t>
            </a:r>
            <a:r>
              <a:rPr lang="de-DE" dirty="0" err="1"/>
              <a:t>Formatting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D82D17-F147-6E06-F7BC-EBE5D519AEE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Visualizations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E712B2D-8279-0907-F322-5B1FE024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Advice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8D72A4-391A-9929-2EEC-E3A980CB6505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133D62-4A4A-1C1F-CEF6-0BC2513D43C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 err="1"/>
              <a:t>Bold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headings</a:t>
            </a:r>
            <a:endParaRPr lang="de-DE" dirty="0"/>
          </a:p>
          <a:p>
            <a:r>
              <a:rPr lang="de-DE" dirty="0"/>
              <a:t>Italics </a:t>
            </a:r>
            <a:r>
              <a:rPr lang="de-DE" dirty="0" err="1"/>
              <a:t>for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technical</a:t>
            </a:r>
            <a:r>
              <a:rPr lang="de-DE" dirty="0"/>
              <a:t> </a:t>
            </a:r>
            <a:r>
              <a:rPr lang="de-DE" dirty="0" err="1"/>
              <a:t>terms</a:t>
            </a:r>
            <a:endParaRPr lang="de-DE" dirty="0"/>
          </a:p>
          <a:p>
            <a:pPr lvl="1"/>
            <a:r>
              <a:rPr lang="de-DE" dirty="0" err="1"/>
              <a:t>foreign</a:t>
            </a:r>
            <a:r>
              <a:rPr lang="de-DE" dirty="0"/>
              <a:t> </a:t>
            </a:r>
            <a:r>
              <a:rPr lang="de-DE" dirty="0" err="1"/>
              <a:t>words</a:t>
            </a:r>
            <a:endParaRPr lang="de-DE" dirty="0"/>
          </a:p>
          <a:p>
            <a:pPr lvl="1"/>
            <a:r>
              <a:rPr lang="de-DE" dirty="0" err="1"/>
              <a:t>formulas</a:t>
            </a:r>
            <a:r>
              <a:rPr lang="de-DE" dirty="0"/>
              <a:t> / </a:t>
            </a:r>
            <a:r>
              <a:rPr lang="de-DE" dirty="0" err="1"/>
              <a:t>mathematical</a:t>
            </a:r>
            <a:r>
              <a:rPr lang="de-DE" dirty="0"/>
              <a:t> </a:t>
            </a:r>
            <a:r>
              <a:rPr lang="de-DE" dirty="0" err="1"/>
              <a:t>symbols</a:t>
            </a:r>
            <a:endParaRPr lang="de-DE" dirty="0"/>
          </a:p>
          <a:p>
            <a:pPr lvl="1"/>
            <a:r>
              <a:rPr lang="de-DE" dirty="0" err="1"/>
              <a:t>book</a:t>
            </a:r>
            <a:r>
              <a:rPr lang="de-DE" dirty="0"/>
              <a:t> </a:t>
            </a:r>
            <a:r>
              <a:rPr lang="de-DE" dirty="0" err="1"/>
              <a:t>titles</a:t>
            </a:r>
            <a:r>
              <a:rPr lang="de-DE" dirty="0"/>
              <a:t> (style-</a:t>
            </a:r>
            <a:r>
              <a:rPr lang="de-DE" dirty="0" err="1"/>
              <a:t>dependent</a:t>
            </a:r>
            <a:r>
              <a:rPr lang="de-DE" dirty="0"/>
              <a:t>)</a:t>
            </a:r>
          </a:p>
          <a:p>
            <a:r>
              <a:rPr lang="de-DE" dirty="0" err="1"/>
              <a:t>Achieve</a:t>
            </a:r>
            <a:r>
              <a:rPr lang="de-DE" dirty="0"/>
              <a:t> </a:t>
            </a:r>
            <a:r>
              <a:rPr lang="de-DE" dirty="0" err="1"/>
              <a:t>emphasis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rephrasing</a:t>
            </a:r>
            <a:r>
              <a:rPr lang="de-DE" dirty="0"/>
              <a:t> </a:t>
            </a:r>
            <a:r>
              <a:rPr lang="de-DE" dirty="0" err="1"/>
              <a:t>sentences</a:t>
            </a:r>
            <a:r>
              <a:rPr lang="de-DE" dirty="0"/>
              <a:t> not </a:t>
            </a:r>
            <a:r>
              <a:rPr lang="de-DE" dirty="0" err="1"/>
              <a:t>bold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italics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E7736F3-EFC8-BC2A-18D4-6FA940F2157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dirty="0"/>
              <a:t>Always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visualizations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standalone</a:t>
            </a:r>
            <a:r>
              <a:rPr lang="de-DE" dirty="0"/>
              <a:t> </a:t>
            </a:r>
            <a:r>
              <a:rPr lang="de-DE" dirty="0" err="1"/>
              <a:t>graphics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context</a:t>
            </a:r>
            <a:endParaRPr lang="de-DE" dirty="0"/>
          </a:p>
          <a:p>
            <a:r>
              <a:rPr lang="de-DE" dirty="0"/>
              <a:t>Guide </a:t>
            </a:r>
            <a:r>
              <a:rPr lang="de-DE" dirty="0" err="1"/>
              <a:t>reader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shown</a:t>
            </a:r>
            <a:endParaRPr lang="de-DE" dirty="0"/>
          </a:p>
          <a:p>
            <a:r>
              <a:rPr lang="de-DE" dirty="0" err="1"/>
              <a:t>Visualization</a:t>
            </a:r>
            <a:r>
              <a:rPr lang="de-DE" dirty="0"/>
              <a:t> </a:t>
            </a:r>
            <a:r>
              <a:rPr lang="de-DE" dirty="0" err="1"/>
              <a:t>supports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, not vice </a:t>
            </a:r>
            <a:r>
              <a:rPr lang="de-DE" dirty="0" err="1"/>
              <a:t>versa</a:t>
            </a:r>
            <a:endParaRPr lang="de-DE" dirty="0"/>
          </a:p>
          <a:p>
            <a:r>
              <a:rPr lang="de-DE" dirty="0"/>
              <a:t>Number all </a:t>
            </a:r>
            <a:r>
              <a:rPr lang="de-DE" dirty="0" err="1"/>
              <a:t>figures</a:t>
            </a:r>
            <a:r>
              <a:rPr lang="de-DE" dirty="0"/>
              <a:t> </a:t>
            </a:r>
            <a:r>
              <a:rPr lang="de-DE" dirty="0" err="1"/>
              <a:t>consistently</a:t>
            </a:r>
            <a:endParaRPr lang="de-DE" dirty="0"/>
          </a:p>
          <a:p>
            <a:r>
              <a:rPr lang="de-DE" dirty="0" err="1"/>
              <a:t>Refer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figures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, e.g., Fig. 1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660C1F-E596-0895-AEE5-4BDE2C29D2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D90E40F9-5238-7BAB-536E-BE455A3615A4}"/>
              </a:ext>
            </a:extLst>
          </p:cNvPr>
          <p:cNvSpPr/>
          <p:nvPr/>
        </p:nvSpPr>
        <p:spPr>
          <a:xfrm>
            <a:off x="334963" y="3912542"/>
            <a:ext cx="5579837" cy="81402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 w="254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Figure 2 </a:t>
            </a:r>
            <a:r>
              <a:rPr lang="de-DE" i="1" dirty="0" err="1">
                <a:solidFill>
                  <a:schemeClr val="tx1"/>
                </a:solidFill>
              </a:rPr>
              <a:t>shows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flowchart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analysis</a:t>
            </a:r>
            <a:r>
              <a:rPr lang="de-DE" i="1" dirty="0">
                <a:solidFill>
                  <a:schemeClr val="tx1"/>
                </a:solidFill>
              </a:rPr>
              <a:t> XY. Data </a:t>
            </a:r>
            <a:r>
              <a:rPr lang="de-DE" i="1" dirty="0" err="1">
                <a:solidFill>
                  <a:schemeClr val="tx1"/>
                </a:solidFill>
              </a:rPr>
              <a:t>is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extracted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from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systems</a:t>
            </a:r>
            <a:r>
              <a:rPr lang="de-DE" i="1" dirty="0">
                <a:solidFill>
                  <a:schemeClr val="tx1"/>
                </a:solidFill>
              </a:rPr>
              <a:t> A, B and C.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1A843DDC-89EA-65B7-4050-171040BCDEA2}"/>
              </a:ext>
            </a:extLst>
          </p:cNvPr>
          <p:cNvSpPr/>
          <p:nvPr/>
        </p:nvSpPr>
        <p:spPr>
          <a:xfrm>
            <a:off x="334963" y="4920022"/>
            <a:ext cx="5579837" cy="814028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254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i="1" dirty="0">
                <a:solidFill>
                  <a:schemeClr val="tx1"/>
                </a:solidFill>
              </a:rPr>
              <a:t>The </a:t>
            </a:r>
            <a:r>
              <a:rPr lang="de-DE" i="1" dirty="0" err="1">
                <a:solidFill>
                  <a:schemeClr val="tx1"/>
                </a:solidFill>
              </a:rPr>
              <a:t>visualization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below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shows</a:t>
            </a:r>
            <a:r>
              <a:rPr lang="de-DE" i="1" dirty="0">
                <a:solidFill>
                  <a:schemeClr val="tx1"/>
                </a:solidFill>
              </a:rPr>
              <a:t> a </a:t>
            </a:r>
            <a:r>
              <a:rPr lang="de-DE" i="1" dirty="0" err="1">
                <a:solidFill>
                  <a:schemeClr val="tx1"/>
                </a:solidFill>
              </a:rPr>
              <a:t>flowchart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of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the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analysis</a:t>
            </a:r>
            <a:r>
              <a:rPr lang="de-DE" i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E4FFFAAF-BB7C-04A8-B563-FAF49D7BA9B6}"/>
              </a:ext>
            </a:extLst>
          </p:cNvPr>
          <p:cNvSpPr/>
          <p:nvPr/>
        </p:nvSpPr>
        <p:spPr>
          <a:xfrm>
            <a:off x="6277201" y="4552660"/>
            <a:ext cx="5579837" cy="507561"/>
          </a:xfrm>
          <a:prstGeom prst="roundRect">
            <a:avLst/>
          </a:prstGeom>
          <a:solidFill>
            <a:schemeClr val="accent4">
              <a:alpha val="10000"/>
            </a:schemeClr>
          </a:solidFill>
          <a:ln w="254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The </a:t>
            </a:r>
            <a:r>
              <a:rPr lang="de-DE" i="1" dirty="0" err="1">
                <a:solidFill>
                  <a:schemeClr val="accent4"/>
                </a:solidFill>
              </a:rPr>
              <a:t>mean</a:t>
            </a:r>
            <a:r>
              <a:rPr lang="de-DE" i="1" dirty="0">
                <a:solidFill>
                  <a:schemeClr val="accent4"/>
                </a:solidFill>
              </a:rPr>
              <a:t> </a:t>
            </a:r>
            <a:r>
              <a:rPr lang="de-DE" i="1" dirty="0" err="1">
                <a:solidFill>
                  <a:schemeClr val="accent4"/>
                </a:solidFill>
              </a:rPr>
              <a:t>squared</a:t>
            </a:r>
            <a:r>
              <a:rPr lang="de-DE" i="1" dirty="0">
                <a:solidFill>
                  <a:schemeClr val="accent4"/>
                </a:solidFill>
              </a:rPr>
              <a:t> </a:t>
            </a:r>
            <a:r>
              <a:rPr lang="de-DE" i="1" dirty="0" err="1">
                <a:solidFill>
                  <a:schemeClr val="accent4"/>
                </a:solidFill>
              </a:rPr>
              <a:t>error</a:t>
            </a:r>
            <a:r>
              <a:rPr lang="de-DE" i="1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describes</a:t>
            </a:r>
            <a:r>
              <a:rPr lang="de-DE" dirty="0">
                <a:solidFill>
                  <a:schemeClr val="accent4"/>
                </a:solidFill>
              </a:rPr>
              <a:t>…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101BD38D-EE1F-E493-8D28-4E161E3A92C9}"/>
              </a:ext>
            </a:extLst>
          </p:cNvPr>
          <p:cNvSpPr/>
          <p:nvPr/>
        </p:nvSpPr>
        <p:spPr>
          <a:xfrm>
            <a:off x="6277201" y="5257073"/>
            <a:ext cx="5579837" cy="507561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254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Bronze </a:t>
            </a:r>
            <a:r>
              <a:rPr lang="de-DE" dirty="0" err="1">
                <a:solidFill>
                  <a:schemeClr val="accent6"/>
                </a:solidFill>
              </a:rPr>
              <a:t>is</a:t>
            </a:r>
            <a:r>
              <a:rPr lang="de-DE" dirty="0">
                <a:solidFill>
                  <a:schemeClr val="accent6"/>
                </a:solidFill>
              </a:rPr>
              <a:t> an </a:t>
            </a:r>
            <a:r>
              <a:rPr lang="de-DE" dirty="0" err="1">
                <a:solidFill>
                  <a:schemeClr val="accent6"/>
                </a:solidFill>
              </a:rPr>
              <a:t>alloy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of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b="1" dirty="0" err="1">
                <a:solidFill>
                  <a:schemeClr val="accent6"/>
                </a:solidFill>
              </a:rPr>
              <a:t>two</a:t>
            </a:r>
            <a:r>
              <a:rPr lang="de-DE" b="1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elements</a:t>
            </a:r>
            <a:r>
              <a:rPr lang="de-DE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037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B28F02D-3A0B-A321-D6B7-05E190948C5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977" y="2669060"/>
            <a:ext cx="9142493" cy="3047498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42D0859-15C3-762F-108E-11B9B1C8C0E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Peer review =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assurance</a:t>
            </a:r>
            <a:endParaRPr lang="de-DE" dirty="0"/>
          </a:p>
          <a:p>
            <a:r>
              <a:rPr lang="de-DE" dirty="0"/>
              <a:t>Paper </a:t>
            </a:r>
            <a:r>
              <a:rPr lang="de-DE" dirty="0" err="1"/>
              <a:t>evaluated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expert </a:t>
            </a:r>
            <a:r>
              <a:rPr lang="de-DE" dirty="0" err="1"/>
              <a:t>reviewers</a:t>
            </a:r>
            <a:r>
              <a:rPr lang="de-DE" dirty="0"/>
              <a:t> (</a:t>
            </a:r>
            <a:r>
              <a:rPr lang="de-DE" dirty="0" err="1"/>
              <a:t>peers</a:t>
            </a:r>
            <a:r>
              <a:rPr lang="de-DE" dirty="0"/>
              <a:t>)</a:t>
            </a:r>
          </a:p>
          <a:p>
            <a:r>
              <a:rPr lang="de-DE" dirty="0" err="1"/>
              <a:t>Decision</a:t>
            </a:r>
            <a:r>
              <a:rPr lang="de-DE" dirty="0"/>
              <a:t>: </a:t>
            </a:r>
            <a:r>
              <a:rPr lang="de-DE" dirty="0" err="1"/>
              <a:t>acceptance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rejection</a:t>
            </a:r>
            <a:endParaRPr lang="de-DE" dirty="0"/>
          </a:p>
          <a:p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defined</a:t>
            </a:r>
            <a:r>
              <a:rPr lang="de-DE" dirty="0"/>
              <a:t> review </a:t>
            </a:r>
            <a:r>
              <a:rPr lang="de-DE" dirty="0" err="1"/>
              <a:t>criteria</a:t>
            </a:r>
            <a:endParaRPr lang="de-DE" dirty="0"/>
          </a:p>
          <a:p>
            <a:r>
              <a:rPr lang="de-DE" dirty="0"/>
              <a:t>Low </a:t>
            </a:r>
            <a:r>
              <a:rPr lang="de-DE" dirty="0" err="1"/>
              <a:t>acceptance</a:t>
            </a:r>
            <a:r>
              <a:rPr lang="de-DE" dirty="0"/>
              <a:t> </a:t>
            </a:r>
            <a:r>
              <a:rPr lang="de-DE" dirty="0" err="1"/>
              <a:t>rates</a:t>
            </a:r>
            <a:r>
              <a:rPr lang="de-DE" dirty="0"/>
              <a:t> (≈10–60%)</a:t>
            </a:r>
          </a:p>
          <a:p>
            <a:r>
              <a:rPr lang="de-DE" dirty="0"/>
              <a:t>Ensures </a:t>
            </a:r>
            <a:r>
              <a:rPr lang="de-DE" dirty="0" err="1"/>
              <a:t>journal</a:t>
            </a:r>
            <a:r>
              <a:rPr lang="de-DE" dirty="0"/>
              <a:t> </a:t>
            </a:r>
            <a:r>
              <a:rPr lang="de-DE" dirty="0" err="1"/>
              <a:t>quality</a:t>
            </a:r>
            <a:endParaRPr lang="de-DE" dirty="0"/>
          </a:p>
          <a:p>
            <a:r>
              <a:rPr lang="de-DE" dirty="0" err="1"/>
              <a:t>Provides</a:t>
            </a:r>
            <a:r>
              <a:rPr lang="de-DE" dirty="0"/>
              <a:t> </a:t>
            </a:r>
            <a:r>
              <a:rPr lang="de-DE" dirty="0" err="1"/>
              <a:t>valuable</a:t>
            </a:r>
            <a:r>
              <a:rPr lang="de-DE" dirty="0"/>
              <a:t> </a:t>
            </a:r>
            <a:r>
              <a:rPr lang="de-DE" dirty="0" err="1"/>
              <a:t>feedback</a:t>
            </a:r>
            <a:endParaRPr lang="de-DE" dirty="0"/>
          </a:p>
          <a:p>
            <a:r>
              <a:rPr lang="de-DE" dirty="0" err="1"/>
              <a:t>Revisions</a:t>
            </a:r>
            <a:r>
              <a:rPr lang="de-DE" dirty="0"/>
              <a:t> and </a:t>
            </a:r>
            <a:r>
              <a:rPr lang="de-DE" dirty="0" err="1"/>
              <a:t>resubmission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possible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3FCF880-4F52-40C3-D3D9-0000C757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Peer Review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9890B94-A2F2-196C-E54D-B540A3C7CBFF}"/>
              </a:ext>
            </a:extLst>
          </p:cNvPr>
          <p:cNvSpPr txBox="1"/>
          <p:nvPr/>
        </p:nvSpPr>
        <p:spPr>
          <a:xfrm>
            <a:off x="3838832" y="4895459"/>
            <a:ext cx="1358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i="1" dirty="0">
                <a:latin typeface="Trebuchet MS" panose="020B0703020202090204" pitchFamily="34" charset="0"/>
              </a:rPr>
              <a:t>Template,</a:t>
            </a:r>
            <a:br>
              <a:rPr lang="de-DE" sz="1400" i="1" dirty="0">
                <a:latin typeface="Trebuchet MS" panose="020B0703020202090204" pitchFamily="34" charset="0"/>
              </a:rPr>
            </a:br>
            <a:r>
              <a:rPr lang="de-DE" sz="1400" i="1" dirty="0" err="1">
                <a:latin typeface="Trebuchet MS" panose="020B0703020202090204" pitchFamily="34" charset="0"/>
              </a:rPr>
              <a:t>header</a:t>
            </a:r>
            <a:r>
              <a:rPr lang="de-DE" sz="1400" i="1" dirty="0">
                <a:latin typeface="Trebuchet MS" panose="020B0703020202090204" pitchFamily="34" charset="0"/>
              </a:rPr>
              <a:t>, </a:t>
            </a:r>
            <a:r>
              <a:rPr lang="de-DE" sz="1400" i="1" dirty="0" err="1">
                <a:latin typeface="Trebuchet MS" panose="020B0703020202090204" pitchFamily="34" charset="0"/>
              </a:rPr>
              <a:t>length</a:t>
            </a:r>
            <a:endParaRPr lang="de-DE" sz="1400" i="1" dirty="0">
              <a:latin typeface="Trebuchet MS" panose="020B070302020209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63FA799-3D32-6CE7-A28E-271DED346D97}"/>
              </a:ext>
            </a:extLst>
          </p:cNvPr>
          <p:cNvSpPr txBox="1"/>
          <p:nvPr/>
        </p:nvSpPr>
        <p:spPr>
          <a:xfrm>
            <a:off x="5772611" y="3758514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i="1" dirty="0">
                <a:latin typeface="Trebuchet MS" panose="020B0703020202090204" pitchFamily="34" charset="0"/>
              </a:rPr>
              <a:t>Single-blind </a:t>
            </a:r>
            <a:r>
              <a:rPr lang="de-DE" sz="1400" i="1" dirty="0" err="1">
                <a:latin typeface="Trebuchet MS" panose="020B0703020202090204" pitchFamily="34" charset="0"/>
              </a:rPr>
              <a:t>or</a:t>
            </a:r>
            <a:endParaRPr lang="de-DE" sz="1400" i="1" dirty="0">
              <a:latin typeface="Trebuchet MS" panose="020B0703020202090204" pitchFamily="34" charset="0"/>
            </a:endParaRPr>
          </a:p>
          <a:p>
            <a:r>
              <a:rPr lang="de-DE" sz="1400" i="1" dirty="0">
                <a:latin typeface="Trebuchet MS" panose="020B0703020202090204" pitchFamily="34" charset="0"/>
              </a:rPr>
              <a:t>Double-blind</a:t>
            </a:r>
          </a:p>
        </p:txBody>
      </p:sp>
    </p:spTree>
    <p:extLst>
      <p:ext uri="{BB962C8B-B14F-4D97-AF65-F5344CB8AC3E}">
        <p14:creationId xmlns:p14="http://schemas.microsoft.com/office/powerpoint/2010/main" val="3478440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14520CF-7F14-0E69-E9DE-3E43A1C8FD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7037" y="1015200"/>
            <a:ext cx="5580000" cy="312265"/>
          </a:xfrm>
        </p:spPr>
        <p:txBody>
          <a:bodyPr/>
          <a:lstStyle/>
          <a:p>
            <a:r>
              <a:rPr lang="de-DE" dirty="0" err="1"/>
              <a:t>Provide</a:t>
            </a:r>
            <a:r>
              <a:rPr lang="de-DE" dirty="0"/>
              <a:t> Feedback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793E47-5B84-7FFB-BC98-8BBB8557F3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800" y="1015200"/>
            <a:ext cx="5580000" cy="312265"/>
          </a:xfrm>
        </p:spPr>
        <p:txBody>
          <a:bodyPr/>
          <a:lstStyle/>
          <a:p>
            <a:r>
              <a:rPr lang="de-DE" dirty="0" err="1"/>
              <a:t>Incorporate</a:t>
            </a:r>
            <a:r>
              <a:rPr lang="de-DE" dirty="0"/>
              <a:t> Feedback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201C13D-EA91-21C0-5128-BE88D20B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Peer Review</a:t>
            </a:r>
          </a:p>
        </p:txBody>
      </p:sp>
      <p:pic>
        <p:nvPicPr>
          <p:cNvPr id="11" name="Inhaltsplatzhalter 10" descr="Caretzeichen nach rechts mit einfarbiger Füllung">
            <a:extLst>
              <a:ext uri="{FF2B5EF4-FFF2-40B4-BE49-F238E27FC236}">
                <a16:creationId xmlns:a16="http://schemas.microsoft.com/office/drawing/2014/main" id="{2BBF8ABA-A863-4A27-DA48-790B78C0DA2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799" y="5389657"/>
            <a:ext cx="540000" cy="540000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FD3F95D-CF46-F3CE-E1DE-522F3BBAF60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Peer review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reviewers</a:t>
            </a:r>
            <a:endParaRPr lang="de-DE" dirty="0"/>
          </a:p>
          <a:p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</a:t>
            </a:r>
            <a:r>
              <a:rPr lang="de-DE" dirty="0" err="1"/>
              <a:t>carefully</a:t>
            </a:r>
            <a:r>
              <a:rPr lang="de-DE" dirty="0"/>
              <a:t> and </a:t>
            </a:r>
            <a:r>
              <a:rPr lang="de-DE" dirty="0" err="1"/>
              <a:t>objectively</a:t>
            </a:r>
            <a:endParaRPr lang="de-DE" dirty="0"/>
          </a:p>
          <a:p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assurance</a:t>
            </a:r>
            <a:endParaRPr lang="de-DE" dirty="0"/>
          </a:p>
          <a:p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constructive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authors</a:t>
            </a:r>
            <a:endParaRPr lang="de-DE" dirty="0"/>
          </a:p>
          <a:p>
            <a:r>
              <a:rPr lang="de-DE" dirty="0"/>
              <a:t>Be </a:t>
            </a:r>
            <a:r>
              <a:rPr lang="de-DE" dirty="0" err="1"/>
              <a:t>specific</a:t>
            </a:r>
            <a:r>
              <a:rPr lang="de-DE" dirty="0"/>
              <a:t> (</a:t>
            </a:r>
            <a:r>
              <a:rPr lang="de-DE" dirty="0" err="1"/>
              <a:t>clearly</a:t>
            </a:r>
            <a:r>
              <a:rPr lang="de-DE" dirty="0"/>
              <a:t>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)</a:t>
            </a:r>
          </a:p>
          <a:p>
            <a:r>
              <a:rPr lang="de-DE" dirty="0"/>
              <a:t>Be </a:t>
            </a:r>
            <a:r>
              <a:rPr lang="de-DE" dirty="0" err="1"/>
              <a:t>direct</a:t>
            </a:r>
            <a:r>
              <a:rPr lang="de-DE" dirty="0"/>
              <a:t> (</a:t>
            </a:r>
            <a:r>
              <a:rPr lang="de-DE" dirty="0" err="1"/>
              <a:t>clear</a:t>
            </a:r>
            <a:r>
              <a:rPr lang="de-DE" dirty="0"/>
              <a:t>, </a:t>
            </a:r>
            <a:r>
              <a:rPr lang="de-DE" dirty="0" err="1"/>
              <a:t>concise</a:t>
            </a:r>
            <a:r>
              <a:rPr lang="de-DE" dirty="0"/>
              <a:t> </a:t>
            </a:r>
            <a:r>
              <a:rPr lang="de-DE" dirty="0" err="1"/>
              <a:t>wording</a:t>
            </a:r>
            <a:r>
              <a:rPr lang="de-DE" dirty="0"/>
              <a:t>)</a:t>
            </a:r>
          </a:p>
          <a:p>
            <a:r>
              <a:rPr lang="de-DE" dirty="0"/>
              <a:t>Stay </a:t>
            </a:r>
            <a:r>
              <a:rPr lang="de-DE" dirty="0" err="1"/>
              <a:t>objective</a:t>
            </a:r>
            <a:r>
              <a:rPr lang="de-DE" dirty="0"/>
              <a:t> (</a:t>
            </a:r>
            <a:r>
              <a:rPr lang="de-DE" dirty="0" err="1"/>
              <a:t>critique</a:t>
            </a:r>
            <a:r>
              <a:rPr lang="de-DE" dirty="0"/>
              <a:t> </a:t>
            </a:r>
            <a:r>
              <a:rPr lang="de-DE" dirty="0" err="1"/>
              <a:t>arguments</a:t>
            </a:r>
            <a:r>
              <a:rPr lang="de-DE" dirty="0"/>
              <a:t>, not </a:t>
            </a:r>
            <a:r>
              <a:rPr lang="de-DE" dirty="0" err="1"/>
              <a:t>authors</a:t>
            </a:r>
            <a:r>
              <a:rPr lang="de-DE" dirty="0"/>
              <a:t>)</a:t>
            </a:r>
          </a:p>
          <a:p>
            <a:r>
              <a:rPr lang="de-DE" dirty="0"/>
              <a:t>Use positive </a:t>
            </a:r>
            <a:r>
              <a:rPr lang="de-DE" dirty="0" err="1"/>
              <a:t>phrasing</a:t>
            </a:r>
            <a:r>
              <a:rPr lang="de-DE" dirty="0"/>
              <a:t> (</a:t>
            </a:r>
            <a:r>
              <a:rPr lang="de-DE" dirty="0" err="1"/>
              <a:t>focus</a:t>
            </a:r>
            <a:r>
              <a:rPr lang="de-DE" dirty="0"/>
              <a:t> on </a:t>
            </a:r>
            <a:r>
              <a:rPr lang="de-DE" dirty="0" err="1"/>
              <a:t>improvements</a:t>
            </a:r>
            <a:r>
              <a:rPr lang="de-DE" dirty="0"/>
              <a:t>)</a:t>
            </a:r>
          </a:p>
          <a:p>
            <a:r>
              <a:rPr lang="de-DE" dirty="0" err="1"/>
              <a:t>Consider</a:t>
            </a:r>
            <a:r>
              <a:rPr lang="de-DE" dirty="0"/>
              <a:t> </a:t>
            </a:r>
            <a:r>
              <a:rPr lang="de-DE" dirty="0" err="1"/>
              <a:t>author</a:t>
            </a:r>
            <a:r>
              <a:rPr lang="de-DE" dirty="0"/>
              <a:t> </a:t>
            </a:r>
            <a:r>
              <a:rPr lang="de-DE" dirty="0" err="1"/>
              <a:t>perspective</a:t>
            </a:r>
            <a:endParaRPr lang="de-DE" dirty="0"/>
          </a:p>
          <a:p>
            <a:r>
              <a:rPr lang="de-DE" dirty="0">
                <a:solidFill>
                  <a:schemeClr val="accent5"/>
                </a:solidFill>
              </a:rPr>
              <a:t>Use </a:t>
            </a:r>
            <a:r>
              <a:rPr lang="de-DE" dirty="0" err="1">
                <a:solidFill>
                  <a:schemeClr val="accent5"/>
                </a:solidFill>
              </a:rPr>
              <a:t>the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template</a:t>
            </a:r>
            <a:endParaRPr lang="de-DE" dirty="0">
              <a:solidFill>
                <a:schemeClr val="accent5"/>
              </a:solidFill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29A47AF-C6C4-1A4A-6182-16D556DDF905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DE" dirty="0"/>
              <a:t>Take </a:t>
            </a:r>
            <a:r>
              <a:rPr lang="de-DE" dirty="0" err="1"/>
              <a:t>breaks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objectively</a:t>
            </a:r>
            <a:endParaRPr lang="de-DE" dirty="0"/>
          </a:p>
          <a:p>
            <a:r>
              <a:rPr lang="de-DE" dirty="0" err="1"/>
              <a:t>Criticism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reviewed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r>
              <a:rPr lang="de-DE" dirty="0"/>
              <a:t>Not all </a:t>
            </a:r>
            <a:r>
              <a:rPr lang="de-DE" dirty="0" err="1"/>
              <a:t>reviewer</a:t>
            </a:r>
            <a:r>
              <a:rPr lang="de-DE" dirty="0"/>
              <a:t> </a:t>
            </a:r>
            <a:r>
              <a:rPr lang="de-DE" dirty="0" err="1"/>
              <a:t>suggestions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accepted</a:t>
            </a:r>
            <a:endParaRPr lang="de-DE" dirty="0"/>
          </a:p>
          <a:p>
            <a:r>
              <a:rPr lang="de-DE" dirty="0" err="1"/>
              <a:t>Justify</a:t>
            </a:r>
            <a:r>
              <a:rPr lang="de-DE" dirty="0"/>
              <a:t> </a:t>
            </a:r>
            <a:r>
              <a:rPr lang="de-DE" dirty="0" err="1"/>
              <a:t>decisions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rejecting</a:t>
            </a:r>
            <a:r>
              <a:rPr lang="de-DE" dirty="0"/>
              <a:t> </a:t>
            </a:r>
            <a:r>
              <a:rPr lang="de-DE" dirty="0" err="1"/>
              <a:t>feedback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8932FD9-E310-D870-1322-D71BA3720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BD63655-5DB1-74DC-720F-B943F617065B}"/>
              </a:ext>
            </a:extLst>
          </p:cNvPr>
          <p:cNvSpPr/>
          <p:nvPr/>
        </p:nvSpPr>
        <p:spPr>
          <a:xfrm>
            <a:off x="337202" y="5405877"/>
            <a:ext cx="11519836" cy="507561"/>
          </a:xfrm>
          <a:prstGeom prst="roundRect">
            <a:avLst/>
          </a:prstGeom>
          <a:solidFill>
            <a:schemeClr val="tx2">
              <a:alpha val="10000"/>
            </a:schemeClr>
          </a:solidFill>
          <a:ln w="2540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0" tIns="72000" rIns="10800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de-DE" b="1" dirty="0" err="1">
                <a:solidFill>
                  <a:schemeClr val="tx2"/>
                </a:solidFill>
              </a:rPr>
              <a:t>Critique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lang="de-DE" b="1" dirty="0" err="1">
                <a:solidFill>
                  <a:schemeClr val="tx2"/>
                </a:solidFill>
              </a:rPr>
              <a:t>aims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lang="de-DE" b="1" dirty="0" err="1">
                <a:solidFill>
                  <a:schemeClr val="tx2"/>
                </a:solidFill>
              </a:rPr>
              <a:t>to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lang="de-DE" b="1" dirty="0" err="1">
                <a:solidFill>
                  <a:schemeClr val="tx2"/>
                </a:solidFill>
              </a:rPr>
              <a:t>improve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lang="de-DE" b="1" dirty="0" err="1">
                <a:solidFill>
                  <a:schemeClr val="tx2"/>
                </a:solidFill>
              </a:rPr>
              <a:t>the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lang="de-DE" b="1" dirty="0" err="1">
                <a:solidFill>
                  <a:schemeClr val="tx2"/>
                </a:solidFill>
              </a:rPr>
              <a:t>paper</a:t>
            </a:r>
            <a:r>
              <a:rPr lang="de-DE" b="1" dirty="0">
                <a:solidFill>
                  <a:schemeClr val="tx2"/>
                </a:solidFill>
              </a:rPr>
              <a:t>, not </a:t>
            </a:r>
            <a:r>
              <a:rPr lang="de-DE" b="1" dirty="0" err="1">
                <a:solidFill>
                  <a:schemeClr val="tx2"/>
                </a:solidFill>
              </a:rPr>
              <a:t>discourage</a:t>
            </a:r>
            <a:endParaRPr lang="de-DE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434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80DC024-4F61-E732-DC86-385E0B9D23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31376" y="1015200"/>
            <a:ext cx="10723423" cy="4713572"/>
          </a:xfrm>
        </p:spPr>
        <p:txBody>
          <a:bodyPr/>
          <a:lstStyle/>
          <a:p>
            <a:pPr marL="0" indent="0">
              <a:lnSpc>
                <a:spcPct val="195000"/>
              </a:lnSpc>
              <a:buNone/>
            </a:pPr>
            <a:r>
              <a:rPr lang="de-DE" b="1" dirty="0" err="1"/>
              <a:t>Introduction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scientific</a:t>
            </a:r>
            <a:r>
              <a:rPr lang="de-DE" b="1" dirty="0"/>
              <a:t> </a:t>
            </a:r>
            <a:r>
              <a:rPr lang="de-DE" b="1" dirty="0" err="1"/>
              <a:t>writing</a:t>
            </a:r>
            <a:endParaRPr lang="de-DE" b="1" dirty="0"/>
          </a:p>
          <a:p>
            <a:pPr marL="0" indent="0">
              <a:lnSpc>
                <a:spcPct val="195000"/>
              </a:lnSpc>
              <a:buNone/>
            </a:pPr>
            <a:r>
              <a:rPr lang="de-DE" b="1" dirty="0"/>
              <a:t>Key </a:t>
            </a:r>
            <a:r>
              <a:rPr lang="de-DE" b="1" dirty="0" err="1"/>
              <a:t>characteristics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scientific</a:t>
            </a:r>
            <a:r>
              <a:rPr lang="de-DE" b="1" dirty="0"/>
              <a:t> </a:t>
            </a:r>
            <a:r>
              <a:rPr lang="de-DE" b="1" dirty="0" err="1"/>
              <a:t>papers</a:t>
            </a:r>
            <a:endParaRPr lang="de-DE" b="1" dirty="0"/>
          </a:p>
          <a:p>
            <a:pPr marL="0" indent="0">
              <a:lnSpc>
                <a:spcPct val="195000"/>
              </a:lnSpc>
              <a:buNone/>
            </a:pPr>
            <a:r>
              <a:rPr lang="de-DE" b="1" dirty="0" err="1"/>
              <a:t>Useful</a:t>
            </a:r>
            <a:r>
              <a:rPr lang="de-DE" b="1" dirty="0"/>
              <a:t> </a:t>
            </a:r>
            <a:r>
              <a:rPr lang="de-DE" b="1" dirty="0" err="1"/>
              <a:t>tools</a:t>
            </a:r>
            <a:r>
              <a:rPr lang="de-DE" b="1" dirty="0"/>
              <a:t> </a:t>
            </a:r>
            <a:r>
              <a:rPr lang="de-DE" b="1" dirty="0" err="1"/>
              <a:t>for</a:t>
            </a:r>
            <a:r>
              <a:rPr lang="de-DE" b="1" dirty="0"/>
              <a:t> different </a:t>
            </a:r>
            <a:r>
              <a:rPr lang="de-DE" b="1" dirty="0" err="1"/>
              <a:t>phases</a:t>
            </a:r>
            <a:endParaRPr lang="de-DE" b="1" dirty="0"/>
          </a:p>
          <a:p>
            <a:pPr marL="0" indent="0">
              <a:lnSpc>
                <a:spcPct val="195000"/>
              </a:lnSpc>
              <a:buNone/>
            </a:pPr>
            <a:r>
              <a:rPr lang="de-DE" b="1" dirty="0"/>
              <a:t>Writing </a:t>
            </a:r>
            <a:r>
              <a:rPr lang="de-DE" b="1" dirty="0" err="1"/>
              <a:t>procedure</a:t>
            </a:r>
            <a:endParaRPr lang="de-DE" b="1" dirty="0"/>
          </a:p>
          <a:p>
            <a:pPr marL="0" indent="0">
              <a:lnSpc>
                <a:spcPct val="195000"/>
              </a:lnSpc>
              <a:buNone/>
            </a:pPr>
            <a:r>
              <a:rPr lang="de-DE" b="1" dirty="0"/>
              <a:t>Paper </a:t>
            </a:r>
            <a:r>
              <a:rPr lang="de-DE" b="1" dirty="0" err="1"/>
              <a:t>Structure</a:t>
            </a:r>
            <a:endParaRPr lang="de-DE" b="1" dirty="0"/>
          </a:p>
          <a:p>
            <a:pPr marL="0" indent="0">
              <a:lnSpc>
                <a:spcPct val="195000"/>
              </a:lnSpc>
              <a:buNone/>
            </a:pPr>
            <a:r>
              <a:rPr lang="de-DE" b="1" dirty="0"/>
              <a:t>Language</a:t>
            </a:r>
          </a:p>
          <a:p>
            <a:pPr marL="0" indent="0">
              <a:lnSpc>
                <a:spcPct val="195000"/>
              </a:lnSpc>
              <a:buNone/>
            </a:pPr>
            <a:r>
              <a:rPr lang="de-DE" b="1" dirty="0" err="1"/>
              <a:t>Writer‘s</a:t>
            </a:r>
            <a:r>
              <a:rPr lang="de-DE" b="1" dirty="0"/>
              <a:t> Block</a:t>
            </a:r>
          </a:p>
          <a:p>
            <a:pPr marL="0" indent="0">
              <a:lnSpc>
                <a:spcPct val="195000"/>
              </a:lnSpc>
              <a:buNone/>
            </a:pPr>
            <a:r>
              <a:rPr lang="de-DE" b="1" dirty="0" err="1"/>
              <a:t>Citing</a:t>
            </a:r>
            <a:r>
              <a:rPr lang="de-DE" b="1" dirty="0"/>
              <a:t> </a:t>
            </a:r>
            <a:r>
              <a:rPr lang="de-DE" b="1" dirty="0" err="1"/>
              <a:t>Properly</a:t>
            </a:r>
            <a:endParaRPr lang="de-DE" b="1" dirty="0"/>
          </a:p>
          <a:p>
            <a:pPr marL="0" indent="0">
              <a:lnSpc>
                <a:spcPct val="195000"/>
              </a:lnSpc>
              <a:buNone/>
            </a:pPr>
            <a:r>
              <a:rPr lang="de-DE" b="1" dirty="0"/>
              <a:t>Peer Review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70D80FE-DD47-0318-FCF5-19DD8DC1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pic>
        <p:nvPicPr>
          <p:cNvPr id="7" name="Inhaltsplatzhalter 6" descr="Wiedergabe Silhouette">
            <a:extLst>
              <a:ext uri="{FF2B5EF4-FFF2-40B4-BE49-F238E27FC236}">
                <a16:creationId xmlns:a16="http://schemas.microsoft.com/office/drawing/2014/main" id="{1FB58166-32DF-2720-AA3A-DDDAF7473EB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964" y="1015201"/>
            <a:ext cx="503999" cy="503999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4F1F7B-3454-9329-9033-12E6313F25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Grafik 8" descr="Präsentation mit Checkliste Silhouette">
            <a:extLst>
              <a:ext uri="{FF2B5EF4-FFF2-40B4-BE49-F238E27FC236}">
                <a16:creationId xmlns:a16="http://schemas.microsoft.com/office/drawing/2014/main" id="{80633236-39E7-B5BF-BF2C-D0B37636D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64" y="1562762"/>
            <a:ext cx="503999" cy="503999"/>
          </a:xfrm>
          <a:prstGeom prst="rect">
            <a:avLst/>
          </a:prstGeom>
        </p:spPr>
      </p:pic>
      <p:pic>
        <p:nvPicPr>
          <p:cNvPr id="11" name="Grafik 10" descr="Tools Silhouette">
            <a:extLst>
              <a:ext uri="{FF2B5EF4-FFF2-40B4-BE49-F238E27FC236}">
                <a16:creationId xmlns:a16="http://schemas.microsoft.com/office/drawing/2014/main" id="{831D5627-EDBA-EAFA-CAB9-BD24B1C1D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964" y="2110323"/>
            <a:ext cx="503999" cy="503999"/>
          </a:xfrm>
          <a:prstGeom prst="rect">
            <a:avLst/>
          </a:prstGeom>
        </p:spPr>
      </p:pic>
      <p:pic>
        <p:nvPicPr>
          <p:cNvPr id="13" name="Grafik 12" descr="Workflow Silhouette">
            <a:extLst>
              <a:ext uri="{FF2B5EF4-FFF2-40B4-BE49-F238E27FC236}">
                <a16:creationId xmlns:a16="http://schemas.microsoft.com/office/drawing/2014/main" id="{8BF22B48-BF99-F858-7426-43463F8B8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964" y="2657884"/>
            <a:ext cx="503999" cy="503999"/>
          </a:xfrm>
          <a:prstGeom prst="rect">
            <a:avLst/>
          </a:prstGeom>
        </p:spPr>
      </p:pic>
      <p:pic>
        <p:nvPicPr>
          <p:cNvPr id="15" name="Grafik 14" descr="Hierarchie Silhouette">
            <a:extLst>
              <a:ext uri="{FF2B5EF4-FFF2-40B4-BE49-F238E27FC236}">
                <a16:creationId xmlns:a16="http://schemas.microsoft.com/office/drawing/2014/main" id="{D19D2892-7D75-056B-BAF1-332CE9052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964" y="3205445"/>
            <a:ext cx="503999" cy="503999"/>
          </a:xfrm>
          <a:prstGeom prst="rect">
            <a:avLst/>
          </a:prstGeom>
        </p:spPr>
      </p:pic>
      <p:pic>
        <p:nvPicPr>
          <p:cNvPr id="17" name="Grafik 16" descr="Verbotsschild Silhouette">
            <a:extLst>
              <a:ext uri="{FF2B5EF4-FFF2-40B4-BE49-F238E27FC236}">
                <a16:creationId xmlns:a16="http://schemas.microsoft.com/office/drawing/2014/main" id="{F1683F17-544B-554B-EDF3-AFAA17663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4964" y="4300567"/>
            <a:ext cx="503999" cy="503999"/>
          </a:xfrm>
          <a:prstGeom prst="rect">
            <a:avLst/>
          </a:prstGeom>
        </p:spPr>
      </p:pic>
      <p:pic>
        <p:nvPicPr>
          <p:cNvPr id="19" name="Grafik 18" descr="Öffnendes Anführungszeichen Silhouette">
            <a:extLst>
              <a:ext uri="{FF2B5EF4-FFF2-40B4-BE49-F238E27FC236}">
                <a16:creationId xmlns:a16="http://schemas.microsoft.com/office/drawing/2014/main" id="{F4B611F3-99CB-ADBD-DF06-BAA44C53C4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964" y="4848128"/>
            <a:ext cx="503999" cy="503999"/>
          </a:xfrm>
          <a:prstGeom prst="rect">
            <a:avLst/>
          </a:prstGeom>
        </p:spPr>
      </p:pic>
      <p:pic>
        <p:nvPicPr>
          <p:cNvPr id="21" name="Grafik 20" descr="Lupe Silhouette">
            <a:extLst>
              <a:ext uri="{FF2B5EF4-FFF2-40B4-BE49-F238E27FC236}">
                <a16:creationId xmlns:a16="http://schemas.microsoft.com/office/drawing/2014/main" id="{132CD3AE-F6C7-CB90-93DA-DE5F1C397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4964" y="5395687"/>
            <a:ext cx="503999" cy="503999"/>
          </a:xfrm>
          <a:prstGeom prst="rect">
            <a:avLst/>
          </a:prstGeom>
        </p:spPr>
      </p:pic>
      <p:pic>
        <p:nvPicPr>
          <p:cNvPr id="23" name="Grafik 22" descr="Rede Silhouette">
            <a:extLst>
              <a:ext uri="{FF2B5EF4-FFF2-40B4-BE49-F238E27FC236}">
                <a16:creationId xmlns:a16="http://schemas.microsoft.com/office/drawing/2014/main" id="{C2333B5E-5E52-1E85-12FC-EECFF833A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4964" y="3753006"/>
            <a:ext cx="503999" cy="50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03469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  <a:headEnd type="none" w="med" len="med"/>
          <a:tailEnd type="arrow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1693</Words>
  <Application>Microsoft Macintosh PowerPoint</Application>
  <PresentationFormat>Breitbild</PresentationFormat>
  <Paragraphs>349</Paragraphs>
  <Slides>22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Consolas</vt:lpstr>
      <vt:lpstr>Symbol</vt:lpstr>
      <vt:lpstr>Trebuchet MS</vt:lpstr>
      <vt:lpstr>Wingdings</vt:lpstr>
      <vt:lpstr>DesignSE</vt:lpstr>
      <vt:lpstr>An Introduction to Scientific Writing</vt:lpstr>
      <vt:lpstr>Workshop Content</vt:lpstr>
      <vt:lpstr>Key Characteristics of Scientific Papers</vt:lpstr>
      <vt:lpstr>Useful Tools</vt:lpstr>
      <vt:lpstr>LLM Usage Guidelines</vt:lpstr>
      <vt:lpstr>(Idealized) Writing Procedure</vt:lpstr>
      <vt:lpstr>Paper Structure &amp; Narrative Logic</vt:lpstr>
      <vt:lpstr>Paper Structure</vt:lpstr>
      <vt:lpstr>Paper Structure</vt:lpstr>
      <vt:lpstr>Paper Structure: Main Contribution </vt:lpstr>
      <vt:lpstr>Paper Structure</vt:lpstr>
      <vt:lpstr>Language</vt:lpstr>
      <vt:lpstr>Language</vt:lpstr>
      <vt:lpstr>Overcoming Writer‘s Block</vt:lpstr>
      <vt:lpstr>Citing Properly</vt:lpstr>
      <vt:lpstr>Citing Properly</vt:lpstr>
      <vt:lpstr>Citing Properly</vt:lpstr>
      <vt:lpstr>Citing Properly</vt:lpstr>
      <vt:lpstr>Further Advice</vt:lpstr>
      <vt:lpstr>Peer Review</vt:lpstr>
      <vt:lpstr>Peer Review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Marc Schmidt</cp:lastModifiedBy>
  <cp:revision>596</cp:revision>
  <cp:lastPrinted>2019-08-05T09:20:27Z</cp:lastPrinted>
  <dcterms:created xsi:type="dcterms:W3CDTF">2019-02-06T21:20:56Z</dcterms:created>
  <dcterms:modified xsi:type="dcterms:W3CDTF">2026-04-28T09:12:11Z</dcterms:modified>
</cp:coreProperties>
</file>